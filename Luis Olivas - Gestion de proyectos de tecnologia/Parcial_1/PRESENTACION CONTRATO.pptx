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Inter" panose="020B0604020202020204" charset="0"/>
      <p:regular r:id="rId12"/>
    </p:embeddedFont>
    <p:embeddedFont>
      <p:font typeface="Manrope" panose="020B0604020202020204" charset="0"/>
      <p:regular r:id="rId13"/>
    </p:embeddedFont>
    <p:embeddedFont>
      <p:font typeface="Manrope 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1936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1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14431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Contrato de Desarrollo de Software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60908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 multiplataforma con </a:t>
            </a:r>
            <a:r>
              <a:rPr lang="en-US" sz="14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Realidad Aumentada</a:t>
            </a: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para </a:t>
            </a:r>
            <a:r>
              <a:rPr lang="en-US" sz="1450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interacción</a:t>
            </a: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 </a:t>
            </a:r>
            <a:r>
              <a:rPr lang="en-US" sz="1450" dirty="0" err="1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libros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426545"/>
            <a:ext cx="1498463" cy="287139"/>
          </a:xfrm>
          <a:prstGeom prst="roundRect">
            <a:avLst>
              <a:gd name="adj" fmla="val 47396"/>
            </a:avLst>
          </a:prstGeom>
          <a:solidFill>
            <a:srgbClr val="FFD7CC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6" name="Text 3"/>
          <p:cNvSpPr/>
          <p:nvPr/>
        </p:nvSpPr>
        <p:spPr>
          <a:xfrm>
            <a:off x="5346765" y="4483199"/>
            <a:ext cx="188124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SEPTIEMBRE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65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Partes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525350" y="2820690"/>
            <a:ext cx="5476043" cy="2090737"/>
          </a:xfrm>
          <a:prstGeom prst="roundRect">
            <a:avLst>
              <a:gd name="adj" fmla="val 13019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4" name="Text 2"/>
          <p:cNvSpPr/>
          <p:nvPr/>
        </p:nvSpPr>
        <p:spPr>
          <a:xfrm>
            <a:off x="714357" y="3009702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PRESTADOR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14357" y="3493988"/>
            <a:ext cx="5098029" cy="1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000000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Jorge Parra Hidalgo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RESICO · RFC: ABC123456XYZ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Chihuahua, Chihuahua, México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300970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CLIENTE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3493988"/>
            <a:ext cx="5203794" cy="1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Instituto de Estudios Superiores China, S.C.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Registro: EFG456789ABC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Beijing, República Popular China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228977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Objeto del Contrato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3163888"/>
            <a:ext cx="3053877" cy="1404243"/>
          </a:xfrm>
          <a:prstGeom prst="roundRect">
            <a:avLst>
              <a:gd name="adj" fmla="val 12114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5" name="Text 2"/>
          <p:cNvSpPr/>
          <p:nvPr/>
        </p:nvSpPr>
        <p:spPr>
          <a:xfrm>
            <a:off x="856832" y="3359249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Multiplataforma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3767931"/>
            <a:ext cx="26631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Android e iOS con tecnología AR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3163888"/>
            <a:ext cx="3053976" cy="1404243"/>
          </a:xfrm>
          <a:prstGeom prst="roundRect">
            <a:avLst>
              <a:gd name="adj" fmla="val 12114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8" name="Text 5"/>
          <p:cNvSpPr/>
          <p:nvPr/>
        </p:nvSpPr>
        <p:spPr>
          <a:xfrm>
            <a:off x="4099715" y="3359249"/>
            <a:ext cx="26632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Infraestructura Backend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4063206"/>
            <a:ext cx="26632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Servidor, base de datos y nube</a:t>
            </a:r>
            <a:endParaRPr lang="en-US" sz="1450" dirty="0"/>
          </a:p>
        </p:txBody>
      </p:sp>
      <p:pic>
        <p:nvPicPr>
          <p:cNvPr id="10" name="Imagen 9" descr="El Principito : de Saint-Exupéry, Antoine: Amazon.com.mx: Libros">
            <a:extLst>
              <a:ext uri="{FF2B5EF4-FFF2-40B4-BE49-F238E27FC236}">
                <a16:creationId xmlns:a16="http://schemas.microsoft.com/office/drawing/2014/main" id="{BBBEF266-4139-C6A1-9A5B-E3473B394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8869" y="-1"/>
            <a:ext cx="4883131" cy="68487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Alcance Técnico</a:t>
            </a:r>
            <a:endParaRPr lang="en-US" sz="3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648" y="1416248"/>
            <a:ext cx="3541822" cy="10198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55190" y="1600597"/>
            <a:ext cx="30969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255190" y="2003723"/>
            <a:ext cx="309693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Mínimo 7.0 (ARCore)</a:t>
            </a:r>
            <a:endParaRPr lang="en-US" sz="13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648" y="2580779"/>
            <a:ext cx="3541822" cy="10198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55190" y="2765127"/>
            <a:ext cx="30969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iOS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8255190" y="3168253"/>
            <a:ext cx="309693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Mínimo 12.0 · Apple A9+ (ARKit)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94648" y="3745309"/>
            <a:ext cx="3541822" cy="10198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55190" y="3929658"/>
            <a:ext cx="30969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Autenticación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8255190" y="4332784"/>
            <a:ext cx="309693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Correo/contraseña tutor · remember me</a:t>
            </a:r>
            <a:endParaRPr lang="en-US" sz="13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4648" y="4909840"/>
            <a:ext cx="3541822" cy="126791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55190" y="5094188"/>
            <a:ext cx="30969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Entregables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8255190" y="5497314"/>
            <a:ext cx="3096937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Código fuente GitHub · APK/TestFlight · Documentación PDF</a:t>
            </a:r>
            <a:endParaRPr lang="en-US" sz="1300" dirty="0"/>
          </a:p>
        </p:txBody>
      </p:sp>
      <p:pic>
        <p:nvPicPr>
          <p:cNvPr id="16" name="Imagen 15" descr="VR Coding for the AI Coding Era - Monitoring 5 AI Agents at Once - DEV  Community">
            <a:extLst>
              <a:ext uri="{FF2B5EF4-FFF2-40B4-BE49-F238E27FC236}">
                <a16:creationId xmlns:a16="http://schemas.microsoft.com/office/drawing/2014/main" id="{A19C37CC-4CC8-4E57-F7A4-FDC5E63D7B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108" y="2003722"/>
            <a:ext cx="6210829" cy="34935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158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Infraestructura e Insumos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661475" y="1553865"/>
            <a:ext cx="2526046" cy="1359396"/>
          </a:xfrm>
          <a:prstGeom prst="roundRect">
            <a:avLst>
              <a:gd name="adj" fmla="val 11732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" name="Text 2"/>
          <p:cNvSpPr/>
          <p:nvPr/>
        </p:nvSpPr>
        <p:spPr>
          <a:xfrm>
            <a:off x="845025" y="1737420"/>
            <a:ext cx="215894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CLIENTE paga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45025" y="2180431"/>
            <a:ext cx="2158946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Nube · Licencias · Tiendas de apps · Dominios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353609" y="1553865"/>
            <a:ext cx="2526145" cy="1359396"/>
          </a:xfrm>
          <a:prstGeom prst="roundRect">
            <a:avLst>
              <a:gd name="adj" fmla="val 11732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7" name="Text 5"/>
          <p:cNvSpPr/>
          <p:nvPr/>
        </p:nvSpPr>
        <p:spPr>
          <a:xfrm>
            <a:off x="3537159" y="1737420"/>
            <a:ext cx="2159045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 de gasto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537159" y="2180431"/>
            <a:ext cx="2159045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Límite configurado: $1,000 MXN/mes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318290" y="1533128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Cronograma de Insumos 3D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18290" y="1996877"/>
            <a:ext cx="3544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18290" y="2278955"/>
            <a:ext cx="5218280" cy="19050"/>
          </a:xfrm>
          <a:prstGeom prst="rect">
            <a:avLst/>
          </a:prstGeom>
          <a:solidFill>
            <a:srgbClr val="FF7047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6318290" y="2405658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1 · Día 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18290" y="2848670"/>
            <a:ext cx="521828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 modelos 3D de prueba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18290" y="3422253"/>
            <a:ext cx="3544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18290" y="3704332"/>
            <a:ext cx="5218280" cy="19050"/>
          </a:xfrm>
          <a:prstGeom prst="rect">
            <a:avLst/>
          </a:prstGeom>
          <a:solidFill>
            <a:srgbClr val="FF7047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6" name="Text 14"/>
          <p:cNvSpPr/>
          <p:nvPr/>
        </p:nvSpPr>
        <p:spPr>
          <a:xfrm>
            <a:off x="6318290" y="3831034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3 · Semana 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18290" y="4274046"/>
            <a:ext cx="521828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Lote completo: modelos, animaciones, audios, textos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18290" y="4847630"/>
            <a:ext cx="3544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18290" y="5129709"/>
            <a:ext cx="5218280" cy="19050"/>
          </a:xfrm>
          <a:prstGeom prst="rect">
            <a:avLst/>
          </a:prstGeom>
          <a:solidFill>
            <a:srgbClr val="FF7047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20" name="Text 18"/>
          <p:cNvSpPr/>
          <p:nvPr/>
        </p:nvSpPr>
        <p:spPr>
          <a:xfrm>
            <a:off x="6318290" y="5256411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18290" y="5699423"/>
            <a:ext cx="521828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Integración y calibración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338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Calendario de Desarrollo — 6 Meses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6086323" y="1199059"/>
            <a:ext cx="19050" cy="4529634"/>
          </a:xfrm>
          <a:prstGeom prst="roundRect">
            <a:avLst>
              <a:gd name="adj" fmla="val 49999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4" name="Shape 2"/>
          <p:cNvSpPr/>
          <p:nvPr/>
        </p:nvSpPr>
        <p:spPr>
          <a:xfrm>
            <a:off x="5554623" y="1342330"/>
            <a:ext cx="407481" cy="19050"/>
          </a:xfrm>
          <a:prstGeom prst="roundRect">
            <a:avLst>
              <a:gd name="adj" fmla="val 49999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5" name="Shape 3"/>
          <p:cNvSpPr/>
          <p:nvPr/>
        </p:nvSpPr>
        <p:spPr>
          <a:xfrm>
            <a:off x="5943054" y="1199059"/>
            <a:ext cx="305586" cy="305594"/>
          </a:xfrm>
          <a:prstGeom prst="roundRect">
            <a:avLst>
              <a:gd name="adj" fmla="val 40012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5994002" y="1224508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1245691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1516559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Prototipo AR · </a:t>
            </a:r>
            <a:r>
              <a:rPr lang="en-US" sz="10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$60,000 MXN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29591" y="2081014"/>
            <a:ext cx="407481" cy="19050"/>
          </a:xfrm>
          <a:prstGeom prst="roundRect">
            <a:avLst>
              <a:gd name="adj" fmla="val 49999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0" name="Shape 8"/>
          <p:cNvSpPr/>
          <p:nvPr/>
        </p:nvSpPr>
        <p:spPr>
          <a:xfrm>
            <a:off x="5943054" y="1937742"/>
            <a:ext cx="305586" cy="305594"/>
          </a:xfrm>
          <a:prstGeom prst="roundRect">
            <a:avLst>
              <a:gd name="adj" fmla="val 40012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1" name="Text 9"/>
          <p:cNvSpPr/>
          <p:nvPr/>
        </p:nvSpPr>
        <p:spPr>
          <a:xfrm>
            <a:off x="5994002" y="1963192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75082" y="1984375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75082" y="2255242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+ Auth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554623" y="2745383"/>
            <a:ext cx="407481" cy="19050"/>
          </a:xfrm>
          <a:prstGeom prst="roundRect">
            <a:avLst>
              <a:gd name="adj" fmla="val 49999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5" name="Shape 13"/>
          <p:cNvSpPr/>
          <p:nvPr/>
        </p:nvSpPr>
        <p:spPr>
          <a:xfrm>
            <a:off x="5943054" y="2602111"/>
            <a:ext cx="305586" cy="305594"/>
          </a:xfrm>
          <a:prstGeom prst="roundRect">
            <a:avLst>
              <a:gd name="adj" fmla="val 40012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6" name="Text 14"/>
          <p:cNvSpPr/>
          <p:nvPr/>
        </p:nvSpPr>
        <p:spPr>
          <a:xfrm>
            <a:off x="5994002" y="2627561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1475" y="2648744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1475" y="2919611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QR + Assets 3D · </a:t>
            </a:r>
            <a:r>
              <a:rPr lang="en-US" sz="10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$75,250 MXN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29591" y="3409752"/>
            <a:ext cx="407481" cy="19050"/>
          </a:xfrm>
          <a:prstGeom prst="roundRect">
            <a:avLst>
              <a:gd name="adj" fmla="val 49999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20" name="Shape 18"/>
          <p:cNvSpPr/>
          <p:nvPr/>
        </p:nvSpPr>
        <p:spPr>
          <a:xfrm>
            <a:off x="5943054" y="3266480"/>
            <a:ext cx="305586" cy="305594"/>
          </a:xfrm>
          <a:prstGeom prst="roundRect">
            <a:avLst>
              <a:gd name="adj" fmla="val 40012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1" name="Text 19"/>
          <p:cNvSpPr/>
          <p:nvPr/>
        </p:nvSpPr>
        <p:spPr>
          <a:xfrm>
            <a:off x="5994002" y="3291929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775082" y="3313113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75082" y="3583980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Contenido completo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54623" y="4074120"/>
            <a:ext cx="407481" cy="19050"/>
          </a:xfrm>
          <a:prstGeom prst="roundRect">
            <a:avLst>
              <a:gd name="adj" fmla="val 49999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25" name="Shape 23"/>
          <p:cNvSpPr/>
          <p:nvPr/>
        </p:nvSpPr>
        <p:spPr>
          <a:xfrm>
            <a:off x="5943054" y="3930848"/>
            <a:ext cx="305586" cy="305594"/>
          </a:xfrm>
          <a:prstGeom prst="roundRect">
            <a:avLst>
              <a:gd name="adj" fmla="val 40012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6" name="Text 24"/>
          <p:cNvSpPr/>
          <p:nvPr/>
        </p:nvSpPr>
        <p:spPr>
          <a:xfrm>
            <a:off x="5994002" y="3956298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61475" y="3977481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1475" y="4248348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Beta + Reportes · </a:t>
            </a:r>
            <a:r>
              <a:rPr lang="en-US" sz="10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$75,250 MXN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29591" y="4738489"/>
            <a:ext cx="407481" cy="19050"/>
          </a:xfrm>
          <a:prstGeom prst="roundRect">
            <a:avLst>
              <a:gd name="adj" fmla="val 49999"/>
            </a:avLst>
          </a:prstGeom>
          <a:solidFill>
            <a:srgbClr val="FF7047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30" name="Shape 28"/>
          <p:cNvSpPr/>
          <p:nvPr/>
        </p:nvSpPr>
        <p:spPr>
          <a:xfrm>
            <a:off x="5943054" y="4595217"/>
            <a:ext cx="305586" cy="305594"/>
          </a:xfrm>
          <a:prstGeom prst="roundRect">
            <a:avLst>
              <a:gd name="adj" fmla="val 40012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1" name="Text 29"/>
          <p:cNvSpPr/>
          <p:nvPr/>
        </p:nvSpPr>
        <p:spPr>
          <a:xfrm>
            <a:off x="5994002" y="4620667"/>
            <a:ext cx="203691" cy="2546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75082" y="4641850"/>
            <a:ext cx="4755138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 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75082" y="4912717"/>
            <a:ext cx="4755138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Entrega final · </a:t>
            </a:r>
            <a:r>
              <a:rPr lang="en-US" sz="1050" dirty="0">
                <a:solidFill>
                  <a:srgbClr val="FF704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$64,500 MXN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1475" y="5838527"/>
            <a:ext cx="10868745" cy="440035"/>
          </a:xfrm>
          <a:prstGeom prst="roundRect">
            <a:avLst>
              <a:gd name="adj" fmla="val 27787"/>
            </a:avLst>
          </a:prstGeom>
          <a:solidFill>
            <a:srgbClr val="FFD7CC"/>
          </a:solidFill>
          <a:ln/>
        </p:spPr>
        <p:txBody>
          <a:bodyPr/>
          <a:lstStyle/>
          <a:p>
            <a:endParaRPr lang="es-US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02" y="5978227"/>
            <a:ext cx="169759" cy="13583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02888" y="5970091"/>
            <a:ext cx="10901090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ronda de revisión · 5 días hábiles para observaciones · Aceptación tácita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3360" y="557213"/>
            <a:ext cx="6296860" cy="1144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Precio y Condiciones de Pago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233360" y="2059087"/>
            <a:ext cx="3037605" cy="604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$275,000</a:t>
            </a:r>
            <a:endParaRPr lang="en-US" sz="4750" dirty="0"/>
          </a:p>
        </p:txBody>
      </p:sp>
      <p:sp>
        <p:nvSpPr>
          <p:cNvPr id="5" name="Text 2"/>
          <p:cNvSpPr/>
          <p:nvPr/>
        </p:nvSpPr>
        <p:spPr>
          <a:xfrm>
            <a:off x="5233360" y="2887762"/>
            <a:ext cx="30376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Subtotal MXN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233360" y="3280172"/>
            <a:ext cx="303760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 IVA $44,000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92615" y="2059087"/>
            <a:ext cx="3037605" cy="604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$319,000</a:t>
            </a:r>
            <a:endParaRPr lang="en-US" sz="4750" dirty="0"/>
          </a:p>
        </p:txBody>
      </p:sp>
      <p:sp>
        <p:nvSpPr>
          <p:cNvPr id="8" name="Text 5"/>
          <p:cNvSpPr/>
          <p:nvPr/>
        </p:nvSpPr>
        <p:spPr>
          <a:xfrm>
            <a:off x="8492615" y="2887762"/>
            <a:ext cx="30376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MXN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92615" y="3280172"/>
            <a:ext cx="303760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Con IVA incluido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62988" y="4014788"/>
            <a:ext cx="3037605" cy="604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7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4750" dirty="0"/>
          </a:p>
        </p:txBody>
      </p:sp>
      <p:sp>
        <p:nvSpPr>
          <p:cNvPr id="11" name="Text 8"/>
          <p:cNvSpPr/>
          <p:nvPr/>
        </p:nvSpPr>
        <p:spPr>
          <a:xfrm>
            <a:off x="6862988" y="4843463"/>
            <a:ext cx="303760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Días hábiles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62988" y="5235873"/>
            <a:ext cx="303760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Para acreditar pago tras CFDI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233360" y="5723830"/>
            <a:ext cx="6296860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CFDI en esquema </a:t>
            </a:r>
            <a:r>
              <a:rPr lang="en-US" sz="14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PPD</a:t>
            </a:r>
            <a:r>
              <a:rPr lang="en-US" sz="14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· Pagos netos en MXN · Comisiones SWIFT por cuenta del CLIENTE</a:t>
            </a:r>
            <a:endParaRPr lang="en-US" sz="1400" dirty="0"/>
          </a:p>
        </p:txBody>
      </p:sp>
      <p:pic>
        <p:nvPicPr>
          <p:cNvPr id="14" name="Imagen 13" descr="Todo sobre los billetes y monedas en México - Martha Debayle">
            <a:extLst>
              <a:ext uri="{FF2B5EF4-FFF2-40B4-BE49-F238E27FC236}">
                <a16:creationId xmlns:a16="http://schemas.microsoft.com/office/drawing/2014/main" id="{2DFE9AE6-1B19-92AD-9468-279FF0478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10" y="1788073"/>
            <a:ext cx="4401833" cy="30553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956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Penalizaciones, PI y Garantía</a:t>
            </a:r>
            <a:endParaRPr lang="en-US" sz="3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90452"/>
            <a:ext cx="3551049" cy="12109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163" y="1568946"/>
            <a:ext cx="31178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Mora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916163" y="1952625"/>
            <a:ext cx="311787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13.75% mensual · Suspensión tras 5 días hábiles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735957"/>
            <a:ext cx="3551049" cy="9758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6163" y="2914452"/>
            <a:ext cx="31178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Propiedad Intelectual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16163" y="3298130"/>
            <a:ext cx="311787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Cesión al 100% del pago ($319,000 MXN)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846314"/>
            <a:ext cx="3551049" cy="12109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6163" y="4024809"/>
            <a:ext cx="31178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Garantía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916163" y="4408488"/>
            <a:ext cx="311787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60 días naturales · Soporte 1 año post-garantía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191820"/>
            <a:ext cx="3551049" cy="97581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6163" y="5370314"/>
            <a:ext cx="311787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Cambios (CR)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916163" y="5753993"/>
            <a:ext cx="3117871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$460 MXN/hora · Firma previa obligatoria</a:t>
            </a:r>
            <a:endParaRPr lang="en-US" sz="1250" dirty="0"/>
          </a:p>
        </p:txBody>
      </p:sp>
      <p:pic>
        <p:nvPicPr>
          <p:cNvPr id="16" name="Imagen 15" descr="Things to know before signing a legal contract | Gibbs Wright Litigation  Lawyers">
            <a:extLst>
              <a:ext uri="{FF2B5EF4-FFF2-40B4-BE49-F238E27FC236}">
                <a16:creationId xmlns:a16="http://schemas.microsoft.com/office/drawing/2014/main" id="{B3E76D8C-9E43-D240-7622-F09D85DC86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7887" y="1559123"/>
            <a:ext cx="6457950" cy="430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8073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Jurisdicción y Vigencia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1681460"/>
            <a:ext cx="6296860" cy="4369197"/>
          </a:xfrm>
          <a:prstGeom prst="roundRect">
            <a:avLst>
              <a:gd name="adj" fmla="val 3894"/>
            </a:avLst>
          </a:prstGeom>
          <a:solidFill>
            <a:srgbClr val="FFFFFF"/>
          </a:solidFill>
          <a:ln w="6350">
            <a:solidFill>
              <a:srgbClr val="FF7047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5" name="Shape 2"/>
          <p:cNvSpPr/>
          <p:nvPr/>
        </p:nvSpPr>
        <p:spPr>
          <a:xfrm>
            <a:off x="667825" y="1687810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141764" y="0"/>
                </a:moveTo>
                <a:lnTo>
                  <a:pt x="6142396" y="0"/>
                </a:lnTo>
                <a:arcTo wR="141764" hR="141768" stAng="16200000" swAng="5400000"/>
                <a:lnTo>
                  <a:pt x="6284160" y="1089124"/>
                </a:lnTo>
                <a:lnTo>
                  <a:pt x="0" y="1089124"/>
                </a:lnTo>
                <a:lnTo>
                  <a:pt x="0" y="141768"/>
                </a:lnTo>
                <a:arcTo wR="141764" hR="141768" stAng="10800000" swAng="5400000"/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6" name="Text 3"/>
          <p:cNvSpPr/>
          <p:nvPr/>
        </p:nvSpPr>
        <p:spPr>
          <a:xfrm>
            <a:off x="856832" y="187682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Ley Aplicable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28550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Estados Unidos Mexicanos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7825" y="2776934"/>
            <a:ext cx="6284160" cy="10891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9" name="Shape 6"/>
          <p:cNvSpPr/>
          <p:nvPr/>
        </p:nvSpPr>
        <p:spPr>
          <a:xfrm>
            <a:off x="667825" y="2776934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E5562D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0" name="Text 7"/>
          <p:cNvSpPr/>
          <p:nvPr/>
        </p:nvSpPr>
        <p:spPr>
          <a:xfrm>
            <a:off x="856832" y="296594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Tribunales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56832" y="3374628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Chihuahua, Chihuahua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7825" y="3866059"/>
            <a:ext cx="6284160" cy="10891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3" name="Shape 10"/>
          <p:cNvSpPr/>
          <p:nvPr/>
        </p:nvSpPr>
        <p:spPr>
          <a:xfrm>
            <a:off x="667825" y="3866059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E5562D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4" name="Text 11"/>
          <p:cNvSpPr/>
          <p:nvPr/>
        </p:nvSpPr>
        <p:spPr>
          <a:xfrm>
            <a:off x="856832" y="405507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Idioma Prevaleciente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6832" y="4463752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Español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67825" y="4955183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947357"/>
                </a:lnTo>
                <a:arcTo wR="141764" hR="141768" stAng="0" swAng="5400000"/>
                <a:lnTo>
                  <a:pt x="141764" y="1089124"/>
                </a:lnTo>
                <a:arcTo wR="141764" hR="141768" stAng="5400000" swAng="5400000"/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7" name="Shape 14"/>
          <p:cNvSpPr/>
          <p:nvPr/>
        </p:nvSpPr>
        <p:spPr>
          <a:xfrm>
            <a:off x="667825" y="4955183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E5562D"/>
          </a:solidFill>
          <a:ln/>
        </p:spPr>
        <p:txBody>
          <a:bodyPr/>
          <a:lstStyle/>
          <a:p>
            <a:endParaRPr lang="es-US"/>
          </a:p>
        </p:txBody>
      </p:sp>
      <p:sp>
        <p:nvSpPr>
          <p:cNvPr id="18" name="Text 15"/>
          <p:cNvSpPr/>
          <p:nvPr/>
        </p:nvSpPr>
        <p:spPr>
          <a:xfrm>
            <a:off x="856832" y="51441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Firma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856832" y="555287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 de septiembre de 2026</a:t>
            </a:r>
            <a:endParaRPr lang="en-US" sz="1450" dirty="0"/>
          </a:p>
        </p:txBody>
      </p:sp>
      <p:pic>
        <p:nvPicPr>
          <p:cNvPr id="21" name="Imagen 20" descr="China y México dos banderas juntas: ilustración de stock 1797574786 |  Shutterstock">
            <a:extLst>
              <a:ext uri="{FF2B5EF4-FFF2-40B4-BE49-F238E27FC236}">
                <a16:creationId xmlns:a16="http://schemas.microsoft.com/office/drawing/2014/main" id="{DE9E26C1-302E-5830-684F-35055D8A0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9514" y="2345779"/>
            <a:ext cx="4733395" cy="26625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365</Words>
  <Application>Microsoft Office PowerPoint</Application>
  <PresentationFormat>Panorámica</PresentationFormat>
  <Paragraphs>99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Manrope</vt:lpstr>
      <vt:lpstr>Calibri</vt:lpstr>
      <vt:lpstr>Manrope Bold</vt:lpstr>
      <vt:lpstr>Inter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Jorge P</dc:creator>
  <cp:lastModifiedBy>Jorge Parra Hidalgo</cp:lastModifiedBy>
  <cp:revision>3</cp:revision>
  <dcterms:created xsi:type="dcterms:W3CDTF">2026-09-06T12:13:18Z</dcterms:created>
  <dcterms:modified xsi:type="dcterms:W3CDTF">2026-09-06T12:17:03Z</dcterms:modified>
</cp:coreProperties>
</file>