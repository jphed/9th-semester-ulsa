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TT Ramillas" charset="1" panose="020E0000080000020004"/>
      <p:regular r:id="rId24"/>
    </p:embeddedFont>
    <p:embeddedFont>
      <p:font typeface="TT Ramillas Italics" charset="1" panose="020E0000080000090004"/>
      <p:regular r:id="rId25"/>
    </p:embeddedFont>
    <p:embeddedFont>
      <p:font typeface="TT Ramillas Bold" charset="1" panose="020E00000800000200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4C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05329" y="3000576"/>
            <a:ext cx="12077341" cy="2103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62"/>
              </a:lnSpc>
            </a:pPr>
            <a:r>
              <a:rPr lang="en-US" sz="7247">
                <a:solidFill>
                  <a:srgbClr val="F5F3F3"/>
                </a:solidFill>
                <a:latin typeface="TT Ramillas"/>
                <a:ea typeface="TT Ramillas"/>
                <a:cs typeface="TT Ramillas"/>
                <a:sym typeface="TT Ramillas"/>
              </a:rPr>
              <a:t>CÓMO COTIZAR SERVICIOS Y PROYECTOS DE TI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166361" y="6326506"/>
            <a:ext cx="11955278" cy="1186477"/>
            <a:chOff x="0" y="0"/>
            <a:chExt cx="4241545" cy="4209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41545" cy="420943"/>
            </a:xfrm>
            <a:custGeom>
              <a:avLst/>
              <a:gdLst/>
              <a:ahLst/>
              <a:cxnLst/>
              <a:rect r="r" b="b" t="t" l="l"/>
              <a:pathLst>
                <a:path h="420943" w="4241545">
                  <a:moveTo>
                    <a:pt x="0" y="0"/>
                  </a:moveTo>
                  <a:lnTo>
                    <a:pt x="4241545" y="0"/>
                  </a:lnTo>
                  <a:lnTo>
                    <a:pt x="4241545" y="420943"/>
                  </a:lnTo>
                  <a:lnTo>
                    <a:pt x="0" y="42094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41545" cy="459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2297" y="6743544"/>
            <a:ext cx="2339986" cy="3677778"/>
          </a:xfrm>
          <a:custGeom>
            <a:avLst/>
            <a:gdLst/>
            <a:ahLst/>
            <a:cxnLst/>
            <a:rect r="r" b="b" t="t" l="l"/>
            <a:pathLst>
              <a:path h="3677778" w="2339986">
                <a:moveTo>
                  <a:pt x="0" y="0"/>
                </a:moveTo>
                <a:lnTo>
                  <a:pt x="2339986" y="0"/>
                </a:lnTo>
                <a:lnTo>
                  <a:pt x="2339986" y="3677778"/>
                </a:lnTo>
                <a:lnTo>
                  <a:pt x="0" y="3677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731731" y="8582433"/>
            <a:ext cx="2304584" cy="1760126"/>
          </a:xfrm>
          <a:custGeom>
            <a:avLst/>
            <a:gdLst/>
            <a:ahLst/>
            <a:cxnLst/>
            <a:rect r="r" b="b" t="t" l="l"/>
            <a:pathLst>
              <a:path h="1760126" w="2304584">
                <a:moveTo>
                  <a:pt x="0" y="0"/>
                </a:moveTo>
                <a:lnTo>
                  <a:pt x="2304583" y="0"/>
                </a:lnTo>
                <a:lnTo>
                  <a:pt x="2304583" y="1760125"/>
                </a:lnTo>
                <a:lnTo>
                  <a:pt x="0" y="17601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10800000">
            <a:off x="15470036" y="-85725"/>
            <a:ext cx="2339986" cy="3677778"/>
          </a:xfrm>
          <a:custGeom>
            <a:avLst/>
            <a:gdLst/>
            <a:ahLst/>
            <a:cxnLst/>
            <a:rect r="r" b="b" t="t" l="l"/>
            <a:pathLst>
              <a:path h="3677778" w="2339986">
                <a:moveTo>
                  <a:pt x="0" y="0"/>
                </a:moveTo>
                <a:lnTo>
                  <a:pt x="2339986" y="0"/>
                </a:lnTo>
                <a:lnTo>
                  <a:pt x="2339986" y="3677778"/>
                </a:lnTo>
                <a:lnTo>
                  <a:pt x="0" y="3677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086005" y="-6962"/>
            <a:ext cx="2304584" cy="1760126"/>
          </a:xfrm>
          <a:custGeom>
            <a:avLst/>
            <a:gdLst/>
            <a:ahLst/>
            <a:cxnLst/>
            <a:rect r="r" b="b" t="t" l="l"/>
            <a:pathLst>
              <a:path h="1760126" w="2304584">
                <a:moveTo>
                  <a:pt x="0" y="0"/>
                </a:moveTo>
                <a:lnTo>
                  <a:pt x="2304584" y="0"/>
                </a:lnTo>
                <a:lnTo>
                  <a:pt x="2304584" y="1760126"/>
                </a:lnTo>
                <a:lnTo>
                  <a:pt x="0" y="17601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4144369" y="8469828"/>
            <a:ext cx="3607289" cy="1817172"/>
          </a:xfrm>
          <a:custGeom>
            <a:avLst/>
            <a:gdLst/>
            <a:ahLst/>
            <a:cxnLst/>
            <a:rect r="r" b="b" t="t" l="l"/>
            <a:pathLst>
              <a:path h="1817172" w="3607289">
                <a:moveTo>
                  <a:pt x="0" y="0"/>
                </a:moveTo>
                <a:lnTo>
                  <a:pt x="3607289" y="0"/>
                </a:lnTo>
                <a:lnTo>
                  <a:pt x="3607289" y="1817172"/>
                </a:lnTo>
                <a:lnTo>
                  <a:pt x="0" y="18171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3442314" y="6600203"/>
            <a:ext cx="11403371" cy="581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68"/>
              </a:lnSpc>
              <a:spcBef>
                <a:spcPct val="0"/>
              </a:spcBef>
            </a:pPr>
            <a:r>
              <a:rPr lang="en-US" sz="3477" i="true">
                <a:solidFill>
                  <a:srgbClr val="094C69"/>
                </a:solidFill>
                <a:latin typeface="TT Ramillas Italics"/>
                <a:ea typeface="TT Ramillas Italics"/>
                <a:cs typeface="TT Ramillas Italics"/>
                <a:sym typeface="TT Ramillas Italics"/>
              </a:rPr>
              <a:t>Del requerimiento al precio rentable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10800000">
            <a:off x="848639" y="-35485"/>
            <a:ext cx="3607289" cy="1817172"/>
          </a:xfrm>
          <a:custGeom>
            <a:avLst/>
            <a:gdLst/>
            <a:ahLst/>
            <a:cxnLst/>
            <a:rect r="r" b="b" t="t" l="l"/>
            <a:pathLst>
              <a:path h="1817172" w="3607289">
                <a:moveTo>
                  <a:pt x="0" y="0"/>
                </a:moveTo>
                <a:lnTo>
                  <a:pt x="3607289" y="0"/>
                </a:lnTo>
                <a:lnTo>
                  <a:pt x="3607289" y="1817172"/>
                </a:lnTo>
                <a:lnTo>
                  <a:pt x="0" y="18171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19536" y="2577726"/>
            <a:ext cx="11581777" cy="7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0"/>
              </a:lnSpc>
              <a:spcBef>
                <a:spcPct val="0"/>
              </a:spcBef>
            </a:pPr>
            <a:r>
              <a:rPr lang="en-US" sz="4913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OBJETIVOS DE LA CLASE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19536" y="3869785"/>
            <a:ext cx="10458051" cy="243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2"/>
              </a:lnSpc>
            </a:pPr>
            <a:r>
              <a:rPr lang="en-US" sz="230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Transformar necesidades del cliente en alcance definido, costos estructurados y un precio rentable y justificable.</a:t>
            </a:r>
          </a:p>
          <a:p>
            <a:pPr algn="l" marL="0" indent="0" lvl="0">
              <a:lnSpc>
                <a:spcPts val="3232"/>
              </a:lnSpc>
            </a:pPr>
            <a:r>
              <a:rPr lang="en-US" sz="230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Comparar el enfoque de cotización de un profesionista independiente (freelancer) frente al de una empresa de tecnología.</a:t>
            </a:r>
          </a:p>
          <a:p>
            <a:pPr algn="l" marL="0" indent="0" lvl="0">
              <a:lnSpc>
                <a:spcPts val="3232"/>
              </a:lnSpc>
            </a:pPr>
            <a:r>
              <a:rPr lang="en-US" sz="230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Defender una cotización ante el cliente con argumentos sólidos, transparencia en el desglose y manejo profesional de objeciones.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307930" y="-535143"/>
            <a:ext cx="3020465" cy="11934400"/>
            <a:chOff x="0" y="0"/>
            <a:chExt cx="795514" cy="31432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95514" cy="3143216"/>
            </a:xfrm>
            <a:custGeom>
              <a:avLst/>
              <a:gdLst/>
              <a:ahLst/>
              <a:cxnLst/>
              <a:rect r="r" b="b" t="t" l="l"/>
              <a:pathLst>
                <a:path h="3143216" w="795514">
                  <a:moveTo>
                    <a:pt x="0" y="0"/>
                  </a:moveTo>
                  <a:lnTo>
                    <a:pt x="795514" y="0"/>
                  </a:lnTo>
                  <a:lnTo>
                    <a:pt x="795514" y="3143216"/>
                  </a:lnTo>
                  <a:lnTo>
                    <a:pt x="0" y="3143216"/>
                  </a:lnTo>
                  <a:close/>
                </a:path>
              </a:pathLst>
            </a:custGeom>
            <a:solidFill>
              <a:srgbClr val="094C6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795514" cy="3181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0800000">
            <a:off x="15452394" y="-293807"/>
            <a:ext cx="2339986" cy="3677778"/>
          </a:xfrm>
          <a:custGeom>
            <a:avLst/>
            <a:gdLst/>
            <a:ahLst/>
            <a:cxnLst/>
            <a:rect r="r" b="b" t="t" l="l"/>
            <a:pathLst>
              <a:path h="3677778" w="2339986">
                <a:moveTo>
                  <a:pt x="0" y="0"/>
                </a:moveTo>
                <a:lnTo>
                  <a:pt x="2339986" y="0"/>
                </a:lnTo>
                <a:lnTo>
                  <a:pt x="2339986" y="3677778"/>
                </a:lnTo>
                <a:lnTo>
                  <a:pt x="0" y="3677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4068362" y="-215044"/>
            <a:ext cx="2304584" cy="1760126"/>
          </a:xfrm>
          <a:custGeom>
            <a:avLst/>
            <a:gdLst/>
            <a:ahLst/>
            <a:cxnLst/>
            <a:rect r="r" b="b" t="t" l="l"/>
            <a:pathLst>
              <a:path h="1760126" w="2304584">
                <a:moveTo>
                  <a:pt x="0" y="0"/>
                </a:moveTo>
                <a:lnTo>
                  <a:pt x="2304584" y="0"/>
                </a:lnTo>
                <a:lnTo>
                  <a:pt x="2304584" y="1760126"/>
                </a:lnTo>
                <a:lnTo>
                  <a:pt x="0" y="17601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4C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42832" y="7720877"/>
            <a:ext cx="3440308" cy="3346196"/>
          </a:xfrm>
          <a:custGeom>
            <a:avLst/>
            <a:gdLst/>
            <a:ahLst/>
            <a:cxnLst/>
            <a:rect r="r" b="b" t="t" l="l"/>
            <a:pathLst>
              <a:path h="3346196" w="3440308">
                <a:moveTo>
                  <a:pt x="0" y="0"/>
                </a:moveTo>
                <a:lnTo>
                  <a:pt x="3440308" y="0"/>
                </a:lnTo>
                <a:lnTo>
                  <a:pt x="3440308" y="3346196"/>
                </a:lnTo>
                <a:lnTo>
                  <a:pt x="0" y="3346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0800000">
            <a:off x="860565" y="-756126"/>
            <a:ext cx="3380860" cy="2994810"/>
          </a:xfrm>
          <a:custGeom>
            <a:avLst/>
            <a:gdLst/>
            <a:ahLst/>
            <a:cxnLst/>
            <a:rect r="r" b="b" t="t" l="l"/>
            <a:pathLst>
              <a:path h="2994810" w="3380860">
                <a:moveTo>
                  <a:pt x="0" y="0"/>
                </a:moveTo>
                <a:lnTo>
                  <a:pt x="3380860" y="0"/>
                </a:lnTo>
                <a:lnTo>
                  <a:pt x="3380860" y="2994810"/>
                </a:lnTo>
                <a:lnTo>
                  <a:pt x="0" y="29948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7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214815" y="3568977"/>
            <a:ext cx="11858370" cy="269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80"/>
              </a:lnSpc>
              <a:spcBef>
                <a:spcPct val="0"/>
              </a:spcBef>
            </a:pPr>
            <a:r>
              <a:rPr lang="en-US" sz="4953" strike="noStrike" u="none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"UN CLIENTE PIDE UNA PÁGINA WEB.</a:t>
            </a:r>
          </a:p>
          <a:p>
            <a:pPr algn="ctr" marL="0" indent="0" lvl="0">
              <a:lnSpc>
                <a:spcPts val="7280"/>
              </a:lnSpc>
              <a:spcBef>
                <a:spcPct val="0"/>
              </a:spcBef>
            </a:pPr>
            <a:r>
              <a:rPr lang="en-US" sz="4953" strike="noStrike" u="none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¿CUÁNTO COBRARÍAS?"</a:t>
            </a:r>
          </a:p>
          <a:p>
            <a:pPr algn="ctr" marL="0" indent="0" lvl="0">
              <a:lnSpc>
                <a:spcPts val="7280"/>
              </a:lnSpc>
              <a:spcBef>
                <a:spcPct val="0"/>
              </a:spcBef>
            </a:pPr>
            <a:r>
              <a:rPr lang="en-US" sz="4953" strike="noStrike" u="none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LA RESPUESTA CORRECTA ES...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94C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31235" y="4338863"/>
            <a:ext cx="5025529" cy="1452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14"/>
              </a:lnSpc>
              <a:spcBef>
                <a:spcPct val="0"/>
              </a:spcBef>
            </a:pPr>
            <a:r>
              <a:rPr lang="en-US" sz="8439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DEPENDE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62173" y="4114244"/>
            <a:ext cx="4137001" cy="888605"/>
            <a:chOff x="0" y="0"/>
            <a:chExt cx="1470951" cy="3159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0951" cy="315952"/>
            </a:xfrm>
            <a:custGeom>
              <a:avLst/>
              <a:gdLst/>
              <a:ahLst/>
              <a:cxnLst/>
              <a:rect r="r" b="b" t="t" l="l"/>
              <a:pathLst>
                <a:path h="315952" w="1470951">
                  <a:moveTo>
                    <a:pt x="0" y="0"/>
                  </a:moveTo>
                  <a:lnTo>
                    <a:pt x="1470951" y="0"/>
                  </a:lnTo>
                  <a:lnTo>
                    <a:pt x="1470951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70951" cy="354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42174" y="4114244"/>
            <a:ext cx="4137001" cy="888605"/>
            <a:chOff x="0" y="0"/>
            <a:chExt cx="1470951" cy="3159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0951" cy="315952"/>
            </a:xfrm>
            <a:custGeom>
              <a:avLst/>
              <a:gdLst/>
              <a:ahLst/>
              <a:cxnLst/>
              <a:rect r="r" b="b" t="t" l="l"/>
              <a:pathLst>
                <a:path h="315952" w="1470951">
                  <a:moveTo>
                    <a:pt x="0" y="0"/>
                  </a:moveTo>
                  <a:lnTo>
                    <a:pt x="1470951" y="0"/>
                  </a:lnTo>
                  <a:lnTo>
                    <a:pt x="1470951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70951" cy="354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422176" y="4123632"/>
            <a:ext cx="4137001" cy="888605"/>
            <a:chOff x="0" y="0"/>
            <a:chExt cx="1470951" cy="3159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70951" cy="315952"/>
            </a:xfrm>
            <a:custGeom>
              <a:avLst/>
              <a:gdLst/>
              <a:ahLst/>
              <a:cxnLst/>
              <a:rect r="r" b="b" t="t" l="l"/>
              <a:pathLst>
                <a:path h="315952" w="1470951">
                  <a:moveTo>
                    <a:pt x="0" y="0"/>
                  </a:moveTo>
                  <a:lnTo>
                    <a:pt x="1470951" y="0"/>
                  </a:lnTo>
                  <a:lnTo>
                    <a:pt x="1470951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70951" cy="354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946436" y="1640626"/>
            <a:ext cx="1986450" cy="2239951"/>
          </a:xfrm>
          <a:custGeom>
            <a:avLst/>
            <a:gdLst/>
            <a:ahLst/>
            <a:cxnLst/>
            <a:rect r="r" b="b" t="t" l="l"/>
            <a:pathLst>
              <a:path h="2239951" w="1986450">
                <a:moveTo>
                  <a:pt x="0" y="0"/>
                </a:moveTo>
                <a:lnTo>
                  <a:pt x="1986450" y="0"/>
                </a:lnTo>
                <a:lnTo>
                  <a:pt x="1986450" y="2239951"/>
                </a:lnTo>
                <a:lnTo>
                  <a:pt x="0" y="22399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753281" y="1974990"/>
            <a:ext cx="1486468" cy="2062136"/>
          </a:xfrm>
          <a:custGeom>
            <a:avLst/>
            <a:gdLst/>
            <a:ahLst/>
            <a:cxnLst/>
            <a:rect r="r" b="b" t="t" l="l"/>
            <a:pathLst>
              <a:path h="2062136" w="1486468">
                <a:moveTo>
                  <a:pt x="0" y="0"/>
                </a:moveTo>
                <a:lnTo>
                  <a:pt x="1486468" y="0"/>
                </a:lnTo>
                <a:lnTo>
                  <a:pt x="1486468" y="2062137"/>
                </a:lnTo>
                <a:lnTo>
                  <a:pt x="0" y="20621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404181" y="1735327"/>
            <a:ext cx="1660772" cy="2304745"/>
          </a:xfrm>
          <a:custGeom>
            <a:avLst/>
            <a:gdLst/>
            <a:ahLst/>
            <a:cxnLst/>
            <a:rect r="r" b="b" t="t" l="l"/>
            <a:pathLst>
              <a:path h="2304745" w="1660772">
                <a:moveTo>
                  <a:pt x="0" y="0"/>
                </a:moveTo>
                <a:lnTo>
                  <a:pt x="1660772" y="0"/>
                </a:lnTo>
                <a:lnTo>
                  <a:pt x="1660772" y="2304745"/>
                </a:lnTo>
                <a:lnTo>
                  <a:pt x="0" y="23047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055146" y="4271585"/>
            <a:ext cx="3751055" cy="42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25"/>
              </a:lnSpc>
              <a:spcBef>
                <a:spcPct val="0"/>
              </a:spcBef>
            </a:pPr>
            <a:r>
              <a:rPr lang="en-US" sz="2917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COSTO Y PRECIO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62173" y="5398854"/>
            <a:ext cx="4137001" cy="215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5"/>
              </a:lnSpc>
              <a:spcBef>
                <a:spcPct val="0"/>
              </a:spcBef>
            </a:pPr>
            <a:r>
              <a:rPr lang="en-US" sz="18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Costo: lo que se gasta para producir el servicio (horas, herramientas, infraestructura).</a:t>
            </a:r>
          </a:p>
          <a:p>
            <a:pPr algn="l" marL="0" indent="0" lvl="0">
              <a:lnSpc>
                <a:spcPts val="2885"/>
              </a:lnSpc>
              <a:spcBef>
                <a:spcPct val="0"/>
              </a:spcBef>
            </a:pPr>
            <a:r>
              <a:rPr lang="en-US" sz="18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Precio: lo que el cliente paga. Siempre debe ser mayor al costo para que el negocio sea viable.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56046" y="4278547"/>
            <a:ext cx="3709257" cy="42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25"/>
              </a:lnSpc>
              <a:spcBef>
                <a:spcPct val="0"/>
              </a:spcBef>
            </a:pPr>
            <a:r>
              <a:rPr lang="en-US" sz="2917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UTILIDAD Y MARGEN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42174" y="5398854"/>
            <a:ext cx="4137001" cy="215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5"/>
              </a:lnSpc>
              <a:spcBef>
                <a:spcPct val="0"/>
              </a:spcBef>
            </a:pPr>
            <a:r>
              <a:rPr lang="en-US" sz="18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Utilidad: ganancia obtenida tras cubrir costos.</a:t>
            </a:r>
          </a:p>
          <a:p>
            <a:pPr algn="l" marL="0" indent="0" lvl="0">
              <a:lnSpc>
                <a:spcPts val="2885"/>
              </a:lnSpc>
              <a:spcBef>
                <a:spcPct val="0"/>
              </a:spcBef>
            </a:pPr>
            <a:r>
              <a:rPr lang="en-US" sz="18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Margen: porcentaje de utilidad sobre el precio de venta.</a:t>
            </a:r>
          </a:p>
          <a:p>
            <a:pPr algn="l" marL="0" indent="0" lvl="0">
              <a:lnSpc>
                <a:spcPts val="2885"/>
              </a:lnSpc>
              <a:spcBef>
                <a:spcPct val="0"/>
              </a:spcBef>
            </a:pPr>
            <a:r>
              <a:rPr lang="en-US" sz="18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Fórmula clave:</a:t>
            </a:r>
          </a:p>
          <a:p>
            <a:pPr algn="l" marL="0" indent="0" lvl="0">
              <a:lnSpc>
                <a:spcPts val="2885"/>
              </a:lnSpc>
              <a:spcBef>
                <a:spcPct val="0"/>
              </a:spcBef>
            </a:pPr>
            <a:r>
              <a:rPr lang="en-US" sz="18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Precio = Costos + Utilidad + Riesgo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14442" y="4290498"/>
            <a:ext cx="3552468" cy="58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34"/>
              </a:lnSpc>
              <a:spcBef>
                <a:spcPct val="0"/>
              </a:spcBef>
            </a:pPr>
            <a:r>
              <a:rPr lang="en-US" sz="4065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COTIZACIÓN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22176" y="5446479"/>
            <a:ext cx="4137001" cy="2513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5"/>
              </a:lnSpc>
              <a:spcBef>
                <a:spcPct val="0"/>
              </a:spcBef>
            </a:pPr>
            <a:r>
              <a:rPr lang="en-US" sz="18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Documento formal que estima el precio de un proyecto o servicio de TI, con base en el alcance definido, los recursos necesarios y el riesgo identificado.</a:t>
            </a:r>
          </a:p>
          <a:p>
            <a:pPr algn="l" marL="0" indent="0" lvl="0">
              <a:lnSpc>
                <a:spcPts val="2885"/>
              </a:lnSpc>
              <a:spcBef>
                <a:spcPct val="0"/>
              </a:spcBef>
            </a:pPr>
            <a:r>
              <a:rPr lang="en-US" sz="18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No es un número al azar: es el resultado de un análisis.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2466100"/>
            <a:ext cx="10370161" cy="337406"/>
            <a:chOff x="0" y="0"/>
            <a:chExt cx="2731236" cy="88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31236" cy="88864"/>
            </a:xfrm>
            <a:custGeom>
              <a:avLst/>
              <a:gdLst/>
              <a:ahLst/>
              <a:cxnLst/>
              <a:rect r="r" b="b" t="t" l="l"/>
              <a:pathLst>
                <a:path h="88864" w="2731236">
                  <a:moveTo>
                    <a:pt x="0" y="0"/>
                  </a:moveTo>
                  <a:lnTo>
                    <a:pt x="2731236" y="0"/>
                  </a:lnTo>
                  <a:lnTo>
                    <a:pt x="2731236" y="88864"/>
                  </a:lnTo>
                  <a:lnTo>
                    <a:pt x="0" y="88864"/>
                  </a:lnTo>
                  <a:close/>
                </a:path>
              </a:pathLst>
            </a:custGeom>
            <a:solidFill>
              <a:srgbClr val="094C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31236" cy="126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78754" y="2634803"/>
            <a:ext cx="5509791" cy="5509791"/>
          </a:xfrm>
          <a:custGeom>
            <a:avLst/>
            <a:gdLst/>
            <a:ahLst/>
            <a:cxnLst/>
            <a:rect r="r" b="b" t="t" l="l"/>
            <a:pathLst>
              <a:path h="5509791" w="5509791">
                <a:moveTo>
                  <a:pt x="0" y="0"/>
                </a:moveTo>
                <a:lnTo>
                  <a:pt x="5509791" y="0"/>
                </a:lnTo>
                <a:lnTo>
                  <a:pt x="5509791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44000" y="3676461"/>
            <a:ext cx="7611374" cy="56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72"/>
              </a:lnSpc>
              <a:spcBef>
                <a:spcPct val="0"/>
              </a:spcBef>
            </a:pPr>
            <a:r>
              <a:rPr lang="en-US" sz="3835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ANTES DEL PRECIO: EL ALCANCE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5188368"/>
            <a:ext cx="7362454" cy="3172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9"/>
              </a:lnSpc>
              <a:spcBef>
                <a:spcPct val="0"/>
              </a:spcBef>
            </a:pPr>
            <a:r>
              <a:rPr lang="en-US" sz="20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Preguntas clave de levantamiento:</a:t>
            </a:r>
          </a:p>
          <a:p>
            <a:pPr algn="l" marL="0" indent="0" lvl="0">
              <a:lnSpc>
                <a:spcPts val="3189"/>
              </a:lnSpc>
              <a:spcBef>
                <a:spcPct val="0"/>
              </a:spcBef>
            </a:pPr>
            <a:r>
              <a:rPr lang="en-US" sz="20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¿Cuántos usuarios tendrá el sistema?</a:t>
            </a:r>
          </a:p>
          <a:p>
            <a:pPr algn="l" marL="0" indent="0" lvl="0">
              <a:lnSpc>
                <a:spcPts val="3189"/>
              </a:lnSpc>
              <a:spcBef>
                <a:spcPct val="0"/>
              </a:spcBef>
            </a:pPr>
            <a:r>
              <a:rPr lang="en-US" sz="20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¿Qué plataforma: web, móvil, ambas?</a:t>
            </a:r>
          </a:p>
          <a:p>
            <a:pPr algn="l" marL="0" indent="0" lvl="0">
              <a:lnSpc>
                <a:spcPts val="3189"/>
              </a:lnSpc>
              <a:spcBef>
                <a:spcPct val="0"/>
              </a:spcBef>
            </a:pPr>
            <a:r>
              <a:rPr lang="en-US" sz="20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¿Qué módulos o funciones requiere?</a:t>
            </a:r>
          </a:p>
          <a:p>
            <a:pPr algn="l" marL="0" indent="0" lvl="0">
              <a:lnSpc>
                <a:spcPts val="3189"/>
              </a:lnSpc>
              <a:spcBef>
                <a:spcPct val="0"/>
              </a:spcBef>
            </a:pPr>
            <a:r>
              <a:rPr lang="en-US" sz="20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¿Integraciones con otros sistemas?</a:t>
            </a:r>
          </a:p>
          <a:p>
            <a:pPr algn="l" marL="0" indent="0" lvl="0">
              <a:lnSpc>
                <a:spcPts val="3189"/>
              </a:lnSpc>
              <a:spcBef>
                <a:spcPct val="0"/>
              </a:spcBef>
            </a:pPr>
            <a:r>
              <a:rPr lang="en-US" sz="20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¿Hosting y soporte incluidos?</a:t>
            </a:r>
          </a:p>
          <a:p>
            <a:pPr algn="l" marL="0" indent="0" lvl="0">
              <a:lnSpc>
                <a:spcPts val="3189"/>
              </a:lnSpc>
              <a:spcBef>
                <a:spcPct val="0"/>
              </a:spcBef>
            </a:pPr>
            <a:r>
              <a:rPr lang="en-US" sz="20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¿Cuál es la fecha límite?</a:t>
            </a:r>
          </a:p>
          <a:p>
            <a:pPr algn="l" marL="0" indent="0" lvl="0">
              <a:lnSpc>
                <a:spcPts val="3189"/>
              </a:lnSpc>
              <a:spcBef>
                <a:spcPct val="0"/>
              </a:spcBef>
            </a:pPr>
            <a:r>
              <a:rPr lang="en-US" sz="20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Embudo: Requerimiento → Alcance → Precio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43698" y="4112361"/>
            <a:ext cx="5227663" cy="888605"/>
            <a:chOff x="0" y="0"/>
            <a:chExt cx="1858746" cy="3159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8746" cy="315952"/>
            </a:xfrm>
            <a:custGeom>
              <a:avLst/>
              <a:gdLst/>
              <a:ahLst/>
              <a:cxnLst/>
              <a:rect r="r" b="b" t="t" l="l"/>
              <a:pathLst>
                <a:path h="315952" w="1858746">
                  <a:moveTo>
                    <a:pt x="0" y="0"/>
                  </a:moveTo>
                  <a:lnTo>
                    <a:pt x="1858746" y="0"/>
                  </a:lnTo>
                  <a:lnTo>
                    <a:pt x="1858746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58746" cy="354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41579" y="4112361"/>
            <a:ext cx="5227663" cy="888605"/>
            <a:chOff x="0" y="0"/>
            <a:chExt cx="1858746" cy="3159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58746" cy="315952"/>
            </a:xfrm>
            <a:custGeom>
              <a:avLst/>
              <a:gdLst/>
              <a:ahLst/>
              <a:cxnLst/>
              <a:rect r="r" b="b" t="t" l="l"/>
              <a:pathLst>
                <a:path h="315952" w="1858746">
                  <a:moveTo>
                    <a:pt x="0" y="0"/>
                  </a:moveTo>
                  <a:lnTo>
                    <a:pt x="1858746" y="0"/>
                  </a:lnTo>
                  <a:lnTo>
                    <a:pt x="1858746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58746" cy="354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146359" y="9657397"/>
            <a:ext cx="20580718" cy="1930377"/>
            <a:chOff x="0" y="0"/>
            <a:chExt cx="5420436" cy="5084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20436" cy="508412"/>
            </a:xfrm>
            <a:custGeom>
              <a:avLst/>
              <a:gdLst/>
              <a:ahLst/>
              <a:cxnLst/>
              <a:rect r="r" b="b" t="t" l="l"/>
              <a:pathLst>
                <a:path h="508412" w="5420436">
                  <a:moveTo>
                    <a:pt x="0" y="0"/>
                  </a:moveTo>
                  <a:lnTo>
                    <a:pt x="5420436" y="0"/>
                  </a:lnTo>
                  <a:lnTo>
                    <a:pt x="5420436" y="508412"/>
                  </a:lnTo>
                  <a:lnTo>
                    <a:pt x="0" y="508412"/>
                  </a:lnTo>
                  <a:close/>
                </a:path>
              </a:pathLst>
            </a:custGeom>
            <a:solidFill>
              <a:srgbClr val="094C6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420436" cy="546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10800000">
            <a:off x="15452394" y="-293807"/>
            <a:ext cx="2339986" cy="3677778"/>
          </a:xfrm>
          <a:custGeom>
            <a:avLst/>
            <a:gdLst/>
            <a:ahLst/>
            <a:cxnLst/>
            <a:rect r="r" b="b" t="t" l="l"/>
            <a:pathLst>
              <a:path h="3677778" w="2339986">
                <a:moveTo>
                  <a:pt x="0" y="0"/>
                </a:moveTo>
                <a:lnTo>
                  <a:pt x="2339986" y="0"/>
                </a:lnTo>
                <a:lnTo>
                  <a:pt x="2339986" y="3677778"/>
                </a:lnTo>
                <a:lnTo>
                  <a:pt x="0" y="3677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4068362" y="-215044"/>
            <a:ext cx="2304584" cy="1760126"/>
          </a:xfrm>
          <a:custGeom>
            <a:avLst/>
            <a:gdLst/>
            <a:ahLst/>
            <a:cxnLst/>
            <a:rect r="r" b="b" t="t" l="l"/>
            <a:pathLst>
              <a:path h="1760126" w="2304584">
                <a:moveTo>
                  <a:pt x="0" y="0"/>
                </a:moveTo>
                <a:lnTo>
                  <a:pt x="2304584" y="0"/>
                </a:lnTo>
                <a:lnTo>
                  <a:pt x="2304584" y="1760126"/>
                </a:lnTo>
                <a:lnTo>
                  <a:pt x="0" y="17601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3343698" y="2415910"/>
            <a:ext cx="11625544" cy="825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82"/>
              </a:lnSpc>
              <a:spcBef>
                <a:spcPct val="0"/>
              </a:spcBef>
            </a:pPr>
            <a:r>
              <a:rPr lang="en-US" sz="5773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QUÉ INCLUYE Y QUÉ NO INCLUYE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14555" y="5325863"/>
            <a:ext cx="5481711" cy="333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Redacción de textos y contenido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Fotografías o imágenes personalizadas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Posicionamiento SEO avanzado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Tienda en línea / e-commerce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Módulos adicionales no acordados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Mantenimiento mensual posterior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Cambios de alcance sin nueva cotización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⚠ Scope creep: todo cambio tiene costo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33140" y="4241140"/>
            <a:ext cx="4844541" cy="559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08"/>
              </a:lnSpc>
              <a:spcBef>
                <a:spcPct val="0"/>
              </a:spcBef>
            </a:pPr>
            <a:r>
              <a:rPr lang="en-US" b="true" sz="3097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✘ No Incluye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91734" y="5325863"/>
            <a:ext cx="5628785" cy="333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Diseño de 6 secciones (Home, Servicios, Nosotros, Blog, Contacto, FAQ)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Formulario de contacto funcional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Integración con WhatsApp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Mapa de Google Maps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Versión responsive (móvil y escritorio)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1 ronda de correcciones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Capacitación básica al cliente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93041" y="4238845"/>
            <a:ext cx="4154043" cy="559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08"/>
              </a:lnSpc>
              <a:spcBef>
                <a:spcPct val="0"/>
              </a:spcBef>
            </a:pPr>
            <a:r>
              <a:rPr lang="en-US" b="true" sz="3097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✔ Incluye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33107" y="3341054"/>
            <a:ext cx="1140062" cy="1358082"/>
          </a:xfrm>
          <a:custGeom>
            <a:avLst/>
            <a:gdLst/>
            <a:ahLst/>
            <a:cxnLst/>
            <a:rect r="r" b="b" t="t" l="l"/>
            <a:pathLst>
              <a:path h="1358082" w="1140062">
                <a:moveTo>
                  <a:pt x="0" y="0"/>
                </a:moveTo>
                <a:lnTo>
                  <a:pt x="1140062" y="0"/>
                </a:lnTo>
                <a:lnTo>
                  <a:pt x="1140062" y="1358083"/>
                </a:lnTo>
                <a:lnTo>
                  <a:pt x="0" y="1358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8553" y="5728740"/>
            <a:ext cx="19402416" cy="4944027"/>
            <a:chOff x="0" y="0"/>
            <a:chExt cx="5110101" cy="1302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0101" cy="1302131"/>
            </a:xfrm>
            <a:custGeom>
              <a:avLst/>
              <a:gdLst/>
              <a:ahLst/>
              <a:cxnLst/>
              <a:rect r="r" b="b" t="t" l="l"/>
              <a:pathLst>
                <a:path h="1302131" w="5110101">
                  <a:moveTo>
                    <a:pt x="0" y="0"/>
                  </a:moveTo>
                  <a:lnTo>
                    <a:pt x="5110101" y="0"/>
                  </a:lnTo>
                  <a:lnTo>
                    <a:pt x="5110101" y="1302131"/>
                  </a:lnTo>
                  <a:lnTo>
                    <a:pt x="0" y="1302131"/>
                  </a:lnTo>
                  <a:close/>
                </a:path>
              </a:pathLst>
            </a:custGeom>
            <a:solidFill>
              <a:srgbClr val="094C6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110101" cy="1340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573029" y="3215160"/>
            <a:ext cx="7121814" cy="1997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81"/>
              </a:lnSpc>
              <a:spcBef>
                <a:spcPct val="0"/>
              </a:spcBef>
            </a:pPr>
            <a:r>
              <a:rPr lang="en-US" sz="4632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ENFOQUE 1:</a:t>
            </a:r>
          </a:p>
          <a:p>
            <a:pPr algn="l" marL="0" indent="0" lvl="0">
              <a:lnSpc>
                <a:spcPts val="5281"/>
              </a:lnSpc>
              <a:spcBef>
                <a:spcPct val="0"/>
              </a:spcBef>
            </a:pPr>
            <a:r>
              <a:rPr lang="en-US" sz="4632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PROFESIONISTA INDEPENDIENTE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22557" y="6126156"/>
            <a:ext cx="8442886" cy="1004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12"/>
              </a:lnSpc>
              <a:spcBef>
                <a:spcPct val="0"/>
              </a:spcBef>
            </a:pPr>
            <a:r>
              <a:rPr lang="en-US" sz="2705">
                <a:solidFill>
                  <a:srgbClr val="FFFEF7"/>
                </a:solidFill>
                <a:latin typeface="TT Ramillas"/>
                <a:ea typeface="TT Ramillas"/>
                <a:cs typeface="TT Ramillas"/>
                <a:sym typeface="TT Ramillas"/>
              </a:rPr>
              <a:t>Pregunta central: ¿Cuánto vale una hora de mi trabajo?</a:t>
            </a:r>
          </a:p>
          <a:p>
            <a:pPr algn="ctr" marL="0" indent="0" lvl="0">
              <a:lnSpc>
                <a:spcPts val="4112"/>
              </a:lnSpc>
              <a:spcBef>
                <a:spcPct val="0"/>
              </a:spcBef>
            </a:pPr>
            <a:r>
              <a:rPr lang="en-US" sz="2705">
                <a:solidFill>
                  <a:srgbClr val="FFFEF7"/>
                </a:solidFill>
                <a:latin typeface="TT Ramillas"/>
                <a:ea typeface="TT Ramillas"/>
                <a:cs typeface="TT Ramillas"/>
                <a:sym typeface="TT Ramillas"/>
              </a:rPr>
              <a:t>Ingreso deseado · Gastos · Horas facturables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479547"/>
            <a:chOff x="0" y="0"/>
            <a:chExt cx="24384000" cy="3306063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696" r="0" b="696"/>
            <a:stretch>
              <a:fillRect/>
            </a:stretch>
          </p:blipFill>
          <p:spPr>
            <a:xfrm flipH="false" flipV="false">
              <a:off x="0" y="0"/>
              <a:ext cx="24384000" cy="3306063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2821755" y="3721279"/>
            <a:ext cx="587725" cy="4768749"/>
            <a:chOff x="0" y="0"/>
            <a:chExt cx="154792" cy="12559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4792" cy="1255967"/>
            </a:xfrm>
            <a:custGeom>
              <a:avLst/>
              <a:gdLst/>
              <a:ahLst/>
              <a:cxnLst/>
              <a:rect r="r" b="b" t="t" l="l"/>
              <a:pathLst>
                <a:path h="1255967" w="154792">
                  <a:moveTo>
                    <a:pt x="0" y="0"/>
                  </a:moveTo>
                  <a:lnTo>
                    <a:pt x="154792" y="0"/>
                  </a:lnTo>
                  <a:lnTo>
                    <a:pt x="154792" y="1255967"/>
                  </a:lnTo>
                  <a:lnTo>
                    <a:pt x="0" y="1255967"/>
                  </a:lnTo>
                  <a:close/>
                </a:path>
              </a:pathLst>
            </a:custGeom>
            <a:solidFill>
              <a:srgbClr val="094C6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4792" cy="1294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142906" y="3863797"/>
            <a:ext cx="10353970" cy="723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47"/>
              </a:lnSpc>
              <a:spcBef>
                <a:spcPct val="0"/>
              </a:spcBef>
            </a:pPr>
            <a:r>
              <a:rPr lang="en-US" sz="4953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CÁLCULO DE TARIFA FREELANCER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42906" y="5612808"/>
            <a:ext cx="11845770" cy="327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84"/>
              </a:lnSpc>
              <a:spcBef>
                <a:spcPct val="0"/>
              </a:spcBef>
            </a:pPr>
            <a:r>
              <a:rPr lang="en-US" sz="2346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¿Cuánto debes cobrar por hora? Parte de tu meta de ingreso mensual y tus gastos reales:</a:t>
            </a:r>
          </a:p>
          <a:p>
            <a:pPr algn="l" marL="0" indent="0" lvl="0">
              <a:lnSpc>
                <a:spcPts val="3284"/>
              </a:lnSpc>
              <a:spcBef>
                <a:spcPct val="0"/>
              </a:spcBef>
            </a:pPr>
            <a:r>
              <a:rPr lang="en-US" sz="2346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Ingreso deseado: $25,000 MXN</a:t>
            </a:r>
          </a:p>
          <a:p>
            <a:pPr algn="l" marL="0" indent="0" lvl="0">
              <a:lnSpc>
                <a:spcPts val="3284"/>
              </a:lnSpc>
              <a:spcBef>
                <a:spcPct val="0"/>
              </a:spcBef>
            </a:pPr>
            <a:r>
              <a:rPr lang="en-US" sz="2346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Gastos operativos: $6,000 MXN</a:t>
            </a:r>
          </a:p>
          <a:p>
            <a:pPr algn="l" marL="0" indent="0" lvl="0">
              <a:lnSpc>
                <a:spcPts val="3284"/>
              </a:lnSpc>
              <a:spcBef>
                <a:spcPct val="0"/>
              </a:spcBef>
            </a:pPr>
            <a:r>
              <a:rPr lang="en-US" sz="2346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Total mensual necesario: $31,000 MXN</a:t>
            </a:r>
          </a:p>
          <a:p>
            <a:pPr algn="l" marL="0" indent="0" lvl="0">
              <a:lnSpc>
                <a:spcPts val="3284"/>
              </a:lnSpc>
              <a:spcBef>
                <a:spcPct val="0"/>
              </a:spcBef>
            </a:pPr>
            <a:r>
              <a:rPr lang="en-US" sz="2346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Horas facturables al mes: 100 h</a:t>
            </a:r>
          </a:p>
          <a:p>
            <a:pPr algn="l" marL="0" indent="0" lvl="0">
              <a:lnSpc>
                <a:spcPts val="3284"/>
              </a:lnSpc>
              <a:spcBef>
                <a:spcPct val="0"/>
              </a:spcBef>
            </a:pPr>
            <a:r>
              <a:rPr lang="en-US" sz="2346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Tarifa mínima: $31,000 ÷ 100 = $310/h</a:t>
            </a:r>
          </a:p>
          <a:p>
            <a:pPr algn="l" marL="0" indent="0" lvl="0">
              <a:lnSpc>
                <a:spcPts val="3284"/>
              </a:lnSpc>
              <a:spcBef>
                <a:spcPct val="0"/>
              </a:spcBef>
            </a:pPr>
            <a:r>
              <a:rPr lang="en-US" sz="2346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Tarifa comercial sugerida: $400 – $500/h</a:t>
            </a:r>
          </a:p>
          <a:p>
            <a:pPr algn="l" marL="0" indent="0" lvl="0">
              <a:lnSpc>
                <a:spcPts val="3284"/>
              </a:lnSpc>
              <a:spcBef>
                <a:spcPct val="0"/>
              </a:spcBef>
            </a:pPr>
            <a:r>
              <a:rPr lang="en-US" sz="2346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La tarifa mínima cubre tus costos. La tarifa comercial agrega margen de riesgo y utilidad.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62173" y="4114244"/>
            <a:ext cx="4137001" cy="888605"/>
            <a:chOff x="0" y="0"/>
            <a:chExt cx="1470951" cy="3159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0951" cy="315952"/>
            </a:xfrm>
            <a:custGeom>
              <a:avLst/>
              <a:gdLst/>
              <a:ahLst/>
              <a:cxnLst/>
              <a:rect r="r" b="b" t="t" l="l"/>
              <a:pathLst>
                <a:path h="315952" w="1470951">
                  <a:moveTo>
                    <a:pt x="0" y="0"/>
                  </a:moveTo>
                  <a:lnTo>
                    <a:pt x="1470951" y="0"/>
                  </a:lnTo>
                  <a:lnTo>
                    <a:pt x="1470951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70951" cy="354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42174" y="4114244"/>
            <a:ext cx="4137001" cy="888605"/>
            <a:chOff x="0" y="0"/>
            <a:chExt cx="1470951" cy="3159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0951" cy="315952"/>
            </a:xfrm>
            <a:custGeom>
              <a:avLst/>
              <a:gdLst/>
              <a:ahLst/>
              <a:cxnLst/>
              <a:rect r="r" b="b" t="t" l="l"/>
              <a:pathLst>
                <a:path h="315952" w="1470951">
                  <a:moveTo>
                    <a:pt x="0" y="0"/>
                  </a:moveTo>
                  <a:lnTo>
                    <a:pt x="1470951" y="0"/>
                  </a:lnTo>
                  <a:lnTo>
                    <a:pt x="1470951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70951" cy="354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422176" y="4123632"/>
            <a:ext cx="4137001" cy="888605"/>
            <a:chOff x="0" y="0"/>
            <a:chExt cx="1470951" cy="3159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70951" cy="315952"/>
            </a:xfrm>
            <a:custGeom>
              <a:avLst/>
              <a:gdLst/>
              <a:ahLst/>
              <a:cxnLst/>
              <a:rect r="r" b="b" t="t" l="l"/>
              <a:pathLst>
                <a:path h="315952" w="1470951">
                  <a:moveTo>
                    <a:pt x="0" y="0"/>
                  </a:moveTo>
                  <a:lnTo>
                    <a:pt x="1470951" y="0"/>
                  </a:lnTo>
                  <a:lnTo>
                    <a:pt x="1470951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70951" cy="354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021403" y="2143338"/>
            <a:ext cx="1780192" cy="1694547"/>
          </a:xfrm>
          <a:custGeom>
            <a:avLst/>
            <a:gdLst/>
            <a:ahLst/>
            <a:cxnLst/>
            <a:rect r="r" b="b" t="t" l="l"/>
            <a:pathLst>
              <a:path h="1694547" w="1780192">
                <a:moveTo>
                  <a:pt x="0" y="0"/>
                </a:moveTo>
                <a:lnTo>
                  <a:pt x="1780192" y="0"/>
                </a:lnTo>
                <a:lnTo>
                  <a:pt x="1780192" y="1694547"/>
                </a:lnTo>
                <a:lnTo>
                  <a:pt x="0" y="16945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316258" y="1748552"/>
            <a:ext cx="2316991" cy="1997956"/>
          </a:xfrm>
          <a:custGeom>
            <a:avLst/>
            <a:gdLst/>
            <a:ahLst/>
            <a:cxnLst/>
            <a:rect r="r" b="b" t="t" l="l"/>
            <a:pathLst>
              <a:path h="1997956" w="2316991">
                <a:moveTo>
                  <a:pt x="0" y="0"/>
                </a:moveTo>
                <a:lnTo>
                  <a:pt x="2316991" y="0"/>
                </a:lnTo>
                <a:lnTo>
                  <a:pt x="2316991" y="1997955"/>
                </a:lnTo>
                <a:lnTo>
                  <a:pt x="0" y="1997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375161" y="2177802"/>
            <a:ext cx="1664625" cy="1588960"/>
          </a:xfrm>
          <a:custGeom>
            <a:avLst/>
            <a:gdLst/>
            <a:ahLst/>
            <a:cxnLst/>
            <a:rect r="r" b="b" t="t" l="l"/>
            <a:pathLst>
              <a:path h="1588960" w="1664625">
                <a:moveTo>
                  <a:pt x="0" y="0"/>
                </a:moveTo>
                <a:lnTo>
                  <a:pt x="1664624" y="0"/>
                </a:lnTo>
                <a:lnTo>
                  <a:pt x="1664624" y="1588960"/>
                </a:lnTo>
                <a:lnTo>
                  <a:pt x="0" y="15889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055146" y="4281110"/>
            <a:ext cx="3751055" cy="36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65"/>
              </a:lnSpc>
              <a:spcBef>
                <a:spcPct val="0"/>
              </a:spcBef>
            </a:pPr>
            <a:r>
              <a:rPr lang="en-US" sz="2601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POR HORA / PROYECTO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62173" y="5398854"/>
            <a:ext cx="4137001" cy="323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5"/>
              </a:lnSpc>
              <a:spcBef>
                <a:spcPct val="0"/>
              </a:spcBef>
            </a:pPr>
            <a:r>
              <a:rPr lang="en-US" sz="18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Por hora: ideal cuando el alcance es incierto o cambiante. Transparente para el cliente. </a:t>
            </a:r>
          </a:p>
          <a:p>
            <a:pPr algn="l" marL="0" indent="0" lvl="0">
              <a:lnSpc>
                <a:spcPts val="2885"/>
              </a:lnSpc>
              <a:spcBef>
                <a:spcPct val="0"/>
              </a:spcBef>
            </a:pPr>
            <a:r>
              <a:rPr lang="en-US" sz="18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Riesgo: si tardas más, el cliente paga más. </a:t>
            </a:r>
          </a:p>
          <a:p>
            <a:pPr algn="l" marL="0" indent="0" lvl="0">
              <a:lnSpc>
                <a:spcPts val="2885"/>
              </a:lnSpc>
              <a:spcBef>
                <a:spcPct val="0"/>
              </a:spcBef>
            </a:pPr>
            <a:r>
              <a:rPr lang="en-US" sz="18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Por proyecto: precio fijo acordado desde el inicio. Requiere alcance bien definido. Protege al cliente de sobrecostos inesperados.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56046" y="4288072"/>
            <a:ext cx="3709257" cy="36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65"/>
              </a:lnSpc>
              <a:spcBef>
                <a:spcPct val="0"/>
              </a:spcBef>
            </a:pPr>
            <a:r>
              <a:rPr lang="en-US" sz="2601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IGUALA / RETAINER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42174" y="5398854"/>
            <a:ext cx="4137001" cy="2513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5"/>
              </a:lnSpc>
              <a:spcBef>
                <a:spcPct val="0"/>
              </a:spcBef>
            </a:pPr>
            <a:r>
              <a:rPr lang="en-US" sz="18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El cliente paga una cuota mensual fija a cambio de un número de horas o servicios recurrentes. Ideal para soporte, mantenimiento o consultoría continua. Genera ingresos predecibles y relación de largo plazo con el cliente.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14442" y="4290498"/>
            <a:ext cx="3552468" cy="58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34"/>
              </a:lnSpc>
              <a:spcBef>
                <a:spcPct val="0"/>
              </a:spcBef>
            </a:pPr>
            <a:r>
              <a:rPr lang="en-US" sz="4065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POR VALOR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22176" y="5446479"/>
            <a:ext cx="4137001" cy="2875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5"/>
              </a:lnSpc>
              <a:spcBef>
                <a:spcPct val="0"/>
              </a:spcBef>
            </a:pPr>
            <a:r>
              <a:rPr lang="en-US" sz="18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El precio se basa en el valor que genera la solución para el negocio del cliente, no en el costo o tiempo invertido. Requiere entender el impacto económico del proyecto. Mayor potencial de ingreso; exige experiencia y confianza para negociarlo.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43698" y="4112361"/>
            <a:ext cx="5227663" cy="888605"/>
            <a:chOff x="0" y="0"/>
            <a:chExt cx="1858746" cy="3159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8746" cy="315952"/>
            </a:xfrm>
            <a:custGeom>
              <a:avLst/>
              <a:gdLst/>
              <a:ahLst/>
              <a:cxnLst/>
              <a:rect r="r" b="b" t="t" l="l"/>
              <a:pathLst>
                <a:path h="315952" w="1858746">
                  <a:moveTo>
                    <a:pt x="0" y="0"/>
                  </a:moveTo>
                  <a:lnTo>
                    <a:pt x="1858746" y="0"/>
                  </a:lnTo>
                  <a:lnTo>
                    <a:pt x="1858746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58746" cy="354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41579" y="4112361"/>
            <a:ext cx="5227663" cy="888605"/>
            <a:chOff x="0" y="0"/>
            <a:chExt cx="1858746" cy="3159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58746" cy="315952"/>
            </a:xfrm>
            <a:custGeom>
              <a:avLst/>
              <a:gdLst/>
              <a:ahLst/>
              <a:cxnLst/>
              <a:rect r="r" b="b" t="t" l="l"/>
              <a:pathLst>
                <a:path h="315952" w="1858746">
                  <a:moveTo>
                    <a:pt x="0" y="0"/>
                  </a:moveTo>
                  <a:lnTo>
                    <a:pt x="1858746" y="0"/>
                  </a:lnTo>
                  <a:lnTo>
                    <a:pt x="1858746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58746" cy="354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146359" y="9657397"/>
            <a:ext cx="20580718" cy="1930377"/>
            <a:chOff x="0" y="0"/>
            <a:chExt cx="5420436" cy="5084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20436" cy="508412"/>
            </a:xfrm>
            <a:custGeom>
              <a:avLst/>
              <a:gdLst/>
              <a:ahLst/>
              <a:cxnLst/>
              <a:rect r="r" b="b" t="t" l="l"/>
              <a:pathLst>
                <a:path h="508412" w="5420436">
                  <a:moveTo>
                    <a:pt x="0" y="0"/>
                  </a:moveTo>
                  <a:lnTo>
                    <a:pt x="5420436" y="0"/>
                  </a:lnTo>
                  <a:lnTo>
                    <a:pt x="5420436" y="508412"/>
                  </a:lnTo>
                  <a:lnTo>
                    <a:pt x="0" y="508412"/>
                  </a:lnTo>
                  <a:close/>
                </a:path>
              </a:pathLst>
            </a:custGeom>
            <a:solidFill>
              <a:srgbClr val="094C6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420436" cy="546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10800000">
            <a:off x="15035001" y="-979509"/>
            <a:ext cx="3007357" cy="4923931"/>
          </a:xfrm>
          <a:custGeom>
            <a:avLst/>
            <a:gdLst/>
            <a:ahLst/>
            <a:cxnLst/>
            <a:rect r="r" b="b" t="t" l="l"/>
            <a:pathLst>
              <a:path h="4923931" w="3007357">
                <a:moveTo>
                  <a:pt x="0" y="0"/>
                </a:moveTo>
                <a:lnTo>
                  <a:pt x="3007358" y="0"/>
                </a:lnTo>
                <a:lnTo>
                  <a:pt x="3007358" y="4923931"/>
                </a:lnTo>
                <a:lnTo>
                  <a:pt x="0" y="492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4154405" y="-691551"/>
            <a:ext cx="2133910" cy="2527087"/>
          </a:xfrm>
          <a:custGeom>
            <a:avLst/>
            <a:gdLst/>
            <a:ahLst/>
            <a:cxnLst/>
            <a:rect r="r" b="b" t="t" l="l"/>
            <a:pathLst>
              <a:path h="2527087" w="2133910">
                <a:moveTo>
                  <a:pt x="0" y="0"/>
                </a:moveTo>
                <a:lnTo>
                  <a:pt x="2133910" y="0"/>
                </a:lnTo>
                <a:lnTo>
                  <a:pt x="2133910" y="2527087"/>
                </a:lnTo>
                <a:lnTo>
                  <a:pt x="0" y="252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3343698" y="2406385"/>
            <a:ext cx="11625544" cy="974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39"/>
              </a:lnSpc>
              <a:spcBef>
                <a:spcPct val="0"/>
              </a:spcBef>
            </a:pPr>
            <a:r>
              <a:rPr lang="en-US" sz="6701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CASO FREELANCER: CLÍNICA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14555" y="5325863"/>
            <a:ext cx="5481711" cy="250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Tarifa base: $400/h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37h × $400 = $14,800 MXN</a:t>
            </a:r>
          </a:p>
          <a:p>
            <a:pPr algn="ctr" marL="474646" indent="-237323" lvl="1">
              <a:lnSpc>
                <a:spcPts val="3341"/>
              </a:lnSpc>
              <a:spcBef>
                <a:spcPct val="0"/>
              </a:spcBef>
              <a:buFont typeface="Arial"/>
              <a:buChar char="•"/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10% contingencia: $1,480</a:t>
            </a:r>
          </a:p>
          <a:p>
            <a:pPr algn="ctr" marL="474646" indent="-237323" lvl="1">
              <a:lnSpc>
                <a:spcPts val="3341"/>
              </a:lnSpc>
              <a:spcBef>
                <a:spcPct val="0"/>
              </a:spcBef>
              <a:buFont typeface="Arial"/>
              <a:buChar char="•"/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= $16,280 MXN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Cotización final: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$16,500 – $17,000 MXN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33140" y="4241140"/>
            <a:ext cx="4844541" cy="559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08"/>
              </a:lnSpc>
              <a:spcBef>
                <a:spcPct val="0"/>
              </a:spcBef>
            </a:pPr>
            <a:r>
              <a:rPr lang="en-US" b="true" sz="3097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Cálculo del Precio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91734" y="5325863"/>
            <a:ext cx="5628785" cy="3758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Web: 6 secciones, formulario, WhatsApp, mapa y capacitación.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Análisis: 3h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Diseño: 8h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Desarrollo: 15h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Pruebas: 4h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Correcciones: 5h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Capacitación: 2h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Total: 37 horas facturables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93041" y="4238845"/>
            <a:ext cx="4154043" cy="559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08"/>
              </a:lnSpc>
              <a:spcBef>
                <a:spcPct val="0"/>
              </a:spcBef>
            </a:pPr>
            <a:r>
              <a:rPr lang="en-US" b="true" sz="3097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Desglose de Horas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55243" y="3473147"/>
            <a:ext cx="1139210" cy="1260973"/>
          </a:xfrm>
          <a:custGeom>
            <a:avLst/>
            <a:gdLst/>
            <a:ahLst/>
            <a:cxnLst/>
            <a:rect r="r" b="b" t="t" l="l"/>
            <a:pathLst>
              <a:path h="1260973" w="1139210">
                <a:moveTo>
                  <a:pt x="0" y="0"/>
                </a:moveTo>
                <a:lnTo>
                  <a:pt x="1139210" y="0"/>
                </a:lnTo>
                <a:lnTo>
                  <a:pt x="1139210" y="1260973"/>
                </a:lnTo>
                <a:lnTo>
                  <a:pt x="0" y="1260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8553" y="5728740"/>
            <a:ext cx="19402416" cy="4944027"/>
            <a:chOff x="0" y="0"/>
            <a:chExt cx="5110101" cy="1302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0101" cy="1302131"/>
            </a:xfrm>
            <a:custGeom>
              <a:avLst/>
              <a:gdLst/>
              <a:ahLst/>
              <a:cxnLst/>
              <a:rect r="r" b="b" t="t" l="l"/>
              <a:pathLst>
                <a:path h="1302131" w="5110101">
                  <a:moveTo>
                    <a:pt x="0" y="0"/>
                  </a:moveTo>
                  <a:lnTo>
                    <a:pt x="5110101" y="0"/>
                  </a:lnTo>
                  <a:lnTo>
                    <a:pt x="5110101" y="1302131"/>
                  </a:lnTo>
                  <a:lnTo>
                    <a:pt x="0" y="1302131"/>
                  </a:lnTo>
                  <a:close/>
                </a:path>
              </a:pathLst>
            </a:custGeom>
            <a:solidFill>
              <a:srgbClr val="094C6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110101" cy="1340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573029" y="3215160"/>
            <a:ext cx="7121814" cy="197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61"/>
              </a:lnSpc>
              <a:spcBef>
                <a:spcPct val="0"/>
              </a:spcBef>
            </a:pPr>
            <a:r>
              <a:rPr lang="en-US" sz="6808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ENFOQUE 2:</a:t>
            </a:r>
          </a:p>
          <a:p>
            <a:pPr algn="l" marL="0" indent="0" lvl="0">
              <a:lnSpc>
                <a:spcPts val="7761"/>
              </a:lnSpc>
              <a:spcBef>
                <a:spcPct val="0"/>
              </a:spcBef>
            </a:pPr>
            <a:r>
              <a:rPr lang="en-US" sz="6808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EMPRESA DE TI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22557" y="6126156"/>
            <a:ext cx="8442886" cy="1090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63"/>
              </a:lnSpc>
              <a:spcBef>
                <a:spcPct val="0"/>
              </a:spcBef>
            </a:pPr>
            <a:r>
              <a:rPr lang="en-US" sz="2936">
                <a:solidFill>
                  <a:srgbClr val="FFFEF7"/>
                </a:solidFill>
                <a:latin typeface="TT Ramillas"/>
                <a:ea typeface="TT Ramillas"/>
                <a:cs typeface="TT Ramillas"/>
                <a:sym typeface="TT Ramillas"/>
              </a:rPr>
              <a:t>¿Cuánto le cuesta realmente a la organización producir el proyecto?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43698" y="4112361"/>
            <a:ext cx="5227663" cy="888605"/>
            <a:chOff x="0" y="0"/>
            <a:chExt cx="1858746" cy="3159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8746" cy="315952"/>
            </a:xfrm>
            <a:custGeom>
              <a:avLst/>
              <a:gdLst/>
              <a:ahLst/>
              <a:cxnLst/>
              <a:rect r="r" b="b" t="t" l="l"/>
              <a:pathLst>
                <a:path h="315952" w="1858746">
                  <a:moveTo>
                    <a:pt x="0" y="0"/>
                  </a:moveTo>
                  <a:lnTo>
                    <a:pt x="1858746" y="0"/>
                  </a:lnTo>
                  <a:lnTo>
                    <a:pt x="1858746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58746" cy="354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41579" y="4112361"/>
            <a:ext cx="5227663" cy="888605"/>
            <a:chOff x="0" y="0"/>
            <a:chExt cx="1858746" cy="3159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58746" cy="315952"/>
            </a:xfrm>
            <a:custGeom>
              <a:avLst/>
              <a:gdLst/>
              <a:ahLst/>
              <a:cxnLst/>
              <a:rect r="r" b="b" t="t" l="l"/>
              <a:pathLst>
                <a:path h="315952" w="1858746">
                  <a:moveTo>
                    <a:pt x="0" y="0"/>
                  </a:moveTo>
                  <a:lnTo>
                    <a:pt x="1858746" y="0"/>
                  </a:lnTo>
                  <a:lnTo>
                    <a:pt x="1858746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58746" cy="354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146359" y="9657397"/>
            <a:ext cx="20580718" cy="1930377"/>
            <a:chOff x="0" y="0"/>
            <a:chExt cx="5420436" cy="5084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20436" cy="508412"/>
            </a:xfrm>
            <a:custGeom>
              <a:avLst/>
              <a:gdLst/>
              <a:ahLst/>
              <a:cxnLst/>
              <a:rect r="r" b="b" t="t" l="l"/>
              <a:pathLst>
                <a:path h="508412" w="5420436">
                  <a:moveTo>
                    <a:pt x="0" y="0"/>
                  </a:moveTo>
                  <a:lnTo>
                    <a:pt x="5420436" y="0"/>
                  </a:lnTo>
                  <a:lnTo>
                    <a:pt x="5420436" y="508412"/>
                  </a:lnTo>
                  <a:lnTo>
                    <a:pt x="0" y="508412"/>
                  </a:lnTo>
                  <a:close/>
                </a:path>
              </a:pathLst>
            </a:custGeom>
            <a:solidFill>
              <a:srgbClr val="094C6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420436" cy="546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10800000">
            <a:off x="15452394" y="-293807"/>
            <a:ext cx="2339986" cy="3677778"/>
          </a:xfrm>
          <a:custGeom>
            <a:avLst/>
            <a:gdLst/>
            <a:ahLst/>
            <a:cxnLst/>
            <a:rect r="r" b="b" t="t" l="l"/>
            <a:pathLst>
              <a:path h="3677778" w="2339986">
                <a:moveTo>
                  <a:pt x="0" y="0"/>
                </a:moveTo>
                <a:lnTo>
                  <a:pt x="2339986" y="0"/>
                </a:lnTo>
                <a:lnTo>
                  <a:pt x="2339986" y="3677778"/>
                </a:lnTo>
                <a:lnTo>
                  <a:pt x="0" y="3677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4068362" y="-215044"/>
            <a:ext cx="2304584" cy="1760126"/>
          </a:xfrm>
          <a:custGeom>
            <a:avLst/>
            <a:gdLst/>
            <a:ahLst/>
            <a:cxnLst/>
            <a:rect r="r" b="b" t="t" l="l"/>
            <a:pathLst>
              <a:path h="1760126" w="2304584">
                <a:moveTo>
                  <a:pt x="0" y="0"/>
                </a:moveTo>
                <a:lnTo>
                  <a:pt x="2304584" y="0"/>
                </a:lnTo>
                <a:lnTo>
                  <a:pt x="2304584" y="1760126"/>
                </a:lnTo>
                <a:lnTo>
                  <a:pt x="0" y="17601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3343698" y="2406385"/>
            <a:ext cx="11625544" cy="94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95"/>
              </a:lnSpc>
              <a:spcBef>
                <a:spcPct val="0"/>
              </a:spcBef>
            </a:pPr>
            <a:r>
              <a:rPr lang="en-US" sz="6487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SUELDO NO ES COSTO TOTAL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14555" y="5325863"/>
            <a:ext cx="5481711" cy="3758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Developer (×2): $33,750 c/u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UX/UI Designer: $27,000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QA Engineer: $24,300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Project Manager: $40,500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Costo real equipo: $159,300 MXN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i="true" strike="noStrike" u="none">
                <a:solidFill>
                  <a:srgbClr val="000000"/>
                </a:solidFill>
                <a:latin typeface="TT Ramillas Italics"/>
                <a:ea typeface="TT Ramillas Italics"/>
                <a:cs typeface="TT Ramillas Italics"/>
                <a:sym typeface="TT Ramillas Italics"/>
              </a:rPr>
              <a:t>Factor de carga 1.35 incluye: IMSS, INFONAVIT, vacaciones, aguinaldo, prima vacacional y otros beneficios.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33140" y="4241140"/>
            <a:ext cx="4844541" cy="559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08"/>
              </a:lnSpc>
              <a:spcBef>
                <a:spcPct val="0"/>
              </a:spcBef>
            </a:pPr>
            <a:r>
              <a:rPr lang="en-US" b="true" sz="3097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Costo Real (×1.35)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91734" y="5325863"/>
            <a:ext cx="5628785" cy="2082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Developer (×2): $25,000 c/u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UX/UI Designer: $20,000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QA Engineer: $18,000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Project Manager: $30,000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Total nómina: $118,000 MXN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93041" y="4238845"/>
            <a:ext cx="4154043" cy="559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08"/>
              </a:lnSpc>
              <a:spcBef>
                <a:spcPct val="0"/>
              </a:spcBef>
            </a:pPr>
            <a:r>
              <a:rPr lang="en-US" b="true" sz="3097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Salarios Base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43698" y="4112361"/>
            <a:ext cx="5227663" cy="888605"/>
            <a:chOff x="0" y="0"/>
            <a:chExt cx="1858746" cy="3159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8746" cy="315952"/>
            </a:xfrm>
            <a:custGeom>
              <a:avLst/>
              <a:gdLst/>
              <a:ahLst/>
              <a:cxnLst/>
              <a:rect r="r" b="b" t="t" l="l"/>
              <a:pathLst>
                <a:path h="315952" w="1858746">
                  <a:moveTo>
                    <a:pt x="0" y="0"/>
                  </a:moveTo>
                  <a:lnTo>
                    <a:pt x="1858746" y="0"/>
                  </a:lnTo>
                  <a:lnTo>
                    <a:pt x="1858746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58746" cy="354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41579" y="4112361"/>
            <a:ext cx="5227663" cy="888605"/>
            <a:chOff x="0" y="0"/>
            <a:chExt cx="1858746" cy="3159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58746" cy="315952"/>
            </a:xfrm>
            <a:custGeom>
              <a:avLst/>
              <a:gdLst/>
              <a:ahLst/>
              <a:cxnLst/>
              <a:rect r="r" b="b" t="t" l="l"/>
              <a:pathLst>
                <a:path h="315952" w="1858746">
                  <a:moveTo>
                    <a:pt x="0" y="0"/>
                  </a:moveTo>
                  <a:lnTo>
                    <a:pt x="1858746" y="0"/>
                  </a:lnTo>
                  <a:lnTo>
                    <a:pt x="1858746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58746" cy="354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146359" y="9657397"/>
            <a:ext cx="20580718" cy="1930377"/>
            <a:chOff x="0" y="0"/>
            <a:chExt cx="5420436" cy="5084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20436" cy="508412"/>
            </a:xfrm>
            <a:custGeom>
              <a:avLst/>
              <a:gdLst/>
              <a:ahLst/>
              <a:cxnLst/>
              <a:rect r="r" b="b" t="t" l="l"/>
              <a:pathLst>
                <a:path h="508412" w="5420436">
                  <a:moveTo>
                    <a:pt x="0" y="0"/>
                  </a:moveTo>
                  <a:lnTo>
                    <a:pt x="5420436" y="0"/>
                  </a:lnTo>
                  <a:lnTo>
                    <a:pt x="5420436" y="508412"/>
                  </a:lnTo>
                  <a:lnTo>
                    <a:pt x="0" y="508412"/>
                  </a:lnTo>
                  <a:close/>
                </a:path>
              </a:pathLst>
            </a:custGeom>
            <a:solidFill>
              <a:srgbClr val="094C6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420436" cy="546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10800000">
            <a:off x="15452394" y="-293807"/>
            <a:ext cx="2339986" cy="3677778"/>
          </a:xfrm>
          <a:custGeom>
            <a:avLst/>
            <a:gdLst/>
            <a:ahLst/>
            <a:cxnLst/>
            <a:rect r="r" b="b" t="t" l="l"/>
            <a:pathLst>
              <a:path h="3677778" w="2339986">
                <a:moveTo>
                  <a:pt x="0" y="0"/>
                </a:moveTo>
                <a:lnTo>
                  <a:pt x="2339986" y="0"/>
                </a:lnTo>
                <a:lnTo>
                  <a:pt x="2339986" y="3677778"/>
                </a:lnTo>
                <a:lnTo>
                  <a:pt x="0" y="3677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4068362" y="-215044"/>
            <a:ext cx="2304584" cy="1760126"/>
          </a:xfrm>
          <a:custGeom>
            <a:avLst/>
            <a:gdLst/>
            <a:ahLst/>
            <a:cxnLst/>
            <a:rect r="r" b="b" t="t" l="l"/>
            <a:pathLst>
              <a:path h="1760126" w="2304584">
                <a:moveTo>
                  <a:pt x="0" y="0"/>
                </a:moveTo>
                <a:lnTo>
                  <a:pt x="2304584" y="0"/>
                </a:lnTo>
                <a:lnTo>
                  <a:pt x="2304584" y="1760126"/>
                </a:lnTo>
                <a:lnTo>
                  <a:pt x="0" y="17601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3343698" y="2396860"/>
            <a:ext cx="11625544" cy="79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75"/>
              </a:lnSpc>
              <a:spcBef>
                <a:spcPct val="0"/>
              </a:spcBef>
            </a:pPr>
            <a:r>
              <a:rPr lang="en-US" sz="5417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COSTOS DIRECTOS VS INDIRECTOS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14555" y="5325863"/>
            <a:ext cx="5481711" cy="250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Renta de oficina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Administración y contabilidad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Recursos Humanos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Electricidad y servicios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Software corporativo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Dirección y gestión general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33140" y="4250665"/>
            <a:ext cx="4844541" cy="50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40"/>
              </a:lnSpc>
              <a:spcBef>
                <a:spcPct val="0"/>
              </a:spcBef>
            </a:pPr>
            <a:r>
              <a:rPr lang="en-US" b="true" sz="2789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Costos Indirectos (Overhead)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91734" y="5325863"/>
            <a:ext cx="5628785" cy="250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Horas del equipo (desarrollo, diseño, QA)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APIs y servicios externos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Servidores y hosting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Licencias específicas del proyecto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Viajes y gastos de campo</a:t>
            </a:r>
          </a:p>
          <a:p>
            <a:pPr algn="ctr" marL="0" indent="0" lvl="0">
              <a:lnSpc>
                <a:spcPts val="3341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Software dedicado al proyecto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93041" y="4248370"/>
            <a:ext cx="4154043" cy="50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40"/>
              </a:lnSpc>
              <a:spcBef>
                <a:spcPct val="0"/>
              </a:spcBef>
            </a:pPr>
            <a:r>
              <a:rPr lang="en-US" b="true" sz="2789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Costos Directos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479547"/>
            <a:chOff x="0" y="0"/>
            <a:chExt cx="24384000" cy="3306063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696" r="0" b="696"/>
            <a:stretch>
              <a:fillRect/>
            </a:stretch>
          </p:blipFill>
          <p:spPr>
            <a:xfrm flipH="false" flipV="false">
              <a:off x="0" y="0"/>
              <a:ext cx="24384000" cy="3306063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2821755" y="3721279"/>
            <a:ext cx="587725" cy="4768749"/>
            <a:chOff x="0" y="0"/>
            <a:chExt cx="154792" cy="12559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4792" cy="1255967"/>
            </a:xfrm>
            <a:custGeom>
              <a:avLst/>
              <a:gdLst/>
              <a:ahLst/>
              <a:cxnLst/>
              <a:rect r="r" b="b" t="t" l="l"/>
              <a:pathLst>
                <a:path h="1255967" w="154792">
                  <a:moveTo>
                    <a:pt x="0" y="0"/>
                  </a:moveTo>
                  <a:lnTo>
                    <a:pt x="154792" y="0"/>
                  </a:lnTo>
                  <a:lnTo>
                    <a:pt x="154792" y="1255967"/>
                  </a:lnTo>
                  <a:lnTo>
                    <a:pt x="0" y="1255967"/>
                  </a:lnTo>
                  <a:close/>
                </a:path>
              </a:pathLst>
            </a:custGeom>
            <a:solidFill>
              <a:srgbClr val="094C6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4792" cy="1294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142906" y="3854272"/>
            <a:ext cx="10353970" cy="66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18"/>
              </a:lnSpc>
              <a:spcBef>
                <a:spcPct val="0"/>
              </a:spcBef>
            </a:pPr>
            <a:r>
              <a:rPr lang="en-US" sz="4490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CASO EMPRESA: CÁLCULO DE PRECIO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42906" y="5603283"/>
            <a:ext cx="11845770" cy="362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2"/>
              </a:lnSpc>
              <a:spcBef>
                <a:spcPct val="0"/>
              </a:spcBef>
            </a:pPr>
            <a:r>
              <a:rPr lang="en-US" sz="2594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Mano de obra: $80,000   |   Infraestructura: $10,000   |   Licencias: $5,000   |   Externos: $5,000</a:t>
            </a:r>
          </a:p>
          <a:p>
            <a:pPr algn="l" marL="0" indent="0" lvl="0">
              <a:lnSpc>
                <a:spcPts val="3632"/>
              </a:lnSpc>
              <a:spcBef>
                <a:spcPct val="0"/>
              </a:spcBef>
            </a:pPr>
            <a:r>
              <a:rPr lang="en-US" sz="2594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Costos Directos Totales: $100,000 MXN</a:t>
            </a:r>
          </a:p>
          <a:p>
            <a:pPr algn="l" marL="0" indent="0" lvl="0">
              <a:lnSpc>
                <a:spcPts val="3632"/>
              </a:lnSpc>
              <a:spcBef>
                <a:spcPct val="0"/>
              </a:spcBef>
            </a:pPr>
            <a:r>
              <a:rPr lang="en-US" sz="2594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Overhead (20%): + $20,000 MXN</a:t>
            </a:r>
          </a:p>
          <a:p>
            <a:pPr algn="l" marL="0" indent="0" lvl="0">
              <a:lnSpc>
                <a:spcPts val="3632"/>
              </a:lnSpc>
              <a:spcBef>
                <a:spcPct val="0"/>
              </a:spcBef>
            </a:pPr>
            <a:r>
              <a:rPr lang="en-US" sz="2594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Costo Total Estimado: $120,000 MXN</a:t>
            </a:r>
          </a:p>
          <a:p>
            <a:pPr algn="l" marL="0" indent="0" lvl="0">
              <a:lnSpc>
                <a:spcPts val="3632"/>
              </a:lnSpc>
              <a:spcBef>
                <a:spcPct val="0"/>
              </a:spcBef>
            </a:pPr>
            <a:r>
              <a:rPr lang="en-US" sz="2594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Aplicando Margen Objetivo del 30%:</a:t>
            </a:r>
          </a:p>
          <a:p>
            <a:pPr algn="l" marL="0" indent="0" lvl="0">
              <a:lnSpc>
                <a:spcPts val="3632"/>
              </a:lnSpc>
              <a:spcBef>
                <a:spcPct val="0"/>
              </a:spcBef>
            </a:pPr>
            <a:r>
              <a:rPr lang="en-US" sz="2594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Precio = $120,000 ÷ (1 − 0.30) = $171,429 MXN</a:t>
            </a:r>
          </a:p>
          <a:p>
            <a:pPr algn="l" marL="0" indent="0" lvl="0">
              <a:lnSpc>
                <a:spcPts val="3632"/>
              </a:lnSpc>
              <a:spcBef>
                <a:spcPct val="0"/>
              </a:spcBef>
            </a:pPr>
            <a:r>
              <a:rPr lang="en-US" sz="2594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✔ Precio Comercial Final ≈ $172,000 MXN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2466100"/>
            <a:ext cx="10370161" cy="337406"/>
            <a:chOff x="0" y="0"/>
            <a:chExt cx="2731236" cy="88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31236" cy="88864"/>
            </a:xfrm>
            <a:custGeom>
              <a:avLst/>
              <a:gdLst/>
              <a:ahLst/>
              <a:cxnLst/>
              <a:rect r="r" b="b" t="t" l="l"/>
              <a:pathLst>
                <a:path h="88864" w="2731236">
                  <a:moveTo>
                    <a:pt x="0" y="0"/>
                  </a:moveTo>
                  <a:lnTo>
                    <a:pt x="2731236" y="0"/>
                  </a:lnTo>
                  <a:lnTo>
                    <a:pt x="2731236" y="88864"/>
                  </a:lnTo>
                  <a:lnTo>
                    <a:pt x="0" y="88864"/>
                  </a:lnTo>
                  <a:close/>
                </a:path>
              </a:pathLst>
            </a:custGeom>
            <a:solidFill>
              <a:srgbClr val="094C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31236" cy="126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52817" y="4103668"/>
            <a:ext cx="5771609" cy="3244109"/>
          </a:xfrm>
          <a:custGeom>
            <a:avLst/>
            <a:gdLst/>
            <a:ahLst/>
            <a:cxnLst/>
            <a:rect r="r" b="b" t="t" l="l"/>
            <a:pathLst>
              <a:path h="3244109" w="5771609">
                <a:moveTo>
                  <a:pt x="0" y="0"/>
                </a:moveTo>
                <a:lnTo>
                  <a:pt x="5771609" y="0"/>
                </a:lnTo>
                <a:lnTo>
                  <a:pt x="5771609" y="3244110"/>
                </a:lnTo>
                <a:lnTo>
                  <a:pt x="0" y="3244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44000" y="3685986"/>
            <a:ext cx="7611374" cy="863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00"/>
              </a:lnSpc>
              <a:spcBef>
                <a:spcPct val="0"/>
              </a:spcBef>
            </a:pPr>
            <a:r>
              <a:rPr lang="en-US" sz="5877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MARGEN VS MARKUP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5188368"/>
            <a:ext cx="7362454" cy="3172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9"/>
              </a:lnSpc>
              <a:spcBef>
                <a:spcPct val="0"/>
              </a:spcBef>
            </a:pPr>
            <a:r>
              <a:rPr lang="en-US" sz="20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Ejemplo: Costo = $100 | Precio de venta = $130 | Utilidad = $30</a:t>
            </a:r>
          </a:p>
          <a:p>
            <a:pPr algn="l" marL="0" indent="0" lvl="0">
              <a:lnSpc>
                <a:spcPts val="3189"/>
              </a:lnSpc>
              <a:spcBef>
                <a:spcPct val="0"/>
              </a:spcBef>
            </a:pPr>
            <a:r>
              <a:rPr lang="en-US" sz="20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Markup: Utilidad / Costo = $30 / $100 = 30%</a:t>
            </a:r>
          </a:p>
          <a:p>
            <a:pPr algn="l" marL="0" indent="0" lvl="0">
              <a:lnSpc>
                <a:spcPts val="3189"/>
              </a:lnSpc>
              <a:spcBef>
                <a:spcPct val="0"/>
              </a:spcBef>
            </a:pPr>
            <a:r>
              <a:rPr lang="en-US" sz="20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Margen: Utilidad / Precio = $30 / $130 = 23.1%</a:t>
            </a:r>
          </a:p>
          <a:p>
            <a:pPr algn="l" marL="0" indent="0" lvl="0">
              <a:lnSpc>
                <a:spcPts val="318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89"/>
              </a:lnSpc>
              <a:spcBef>
                <a:spcPct val="0"/>
              </a:spcBef>
            </a:pPr>
            <a:r>
              <a:rPr lang="en-US" sz="20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⚠ "Agregar 30% al costo" NO equivale a "tener un margen del 30%". Si tu meta es un margen del 30%, el precio correcto es: Precio = Costo / (1 − 0.30) = $100 / 0.70 = $142.86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62173" y="4114244"/>
            <a:ext cx="4137001" cy="888605"/>
            <a:chOff x="0" y="0"/>
            <a:chExt cx="1470951" cy="3159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0951" cy="315952"/>
            </a:xfrm>
            <a:custGeom>
              <a:avLst/>
              <a:gdLst/>
              <a:ahLst/>
              <a:cxnLst/>
              <a:rect r="r" b="b" t="t" l="l"/>
              <a:pathLst>
                <a:path h="315952" w="1470951">
                  <a:moveTo>
                    <a:pt x="0" y="0"/>
                  </a:moveTo>
                  <a:lnTo>
                    <a:pt x="1470951" y="0"/>
                  </a:lnTo>
                  <a:lnTo>
                    <a:pt x="1470951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70951" cy="354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42174" y="4114244"/>
            <a:ext cx="4137001" cy="888605"/>
            <a:chOff x="0" y="0"/>
            <a:chExt cx="1470951" cy="3159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0951" cy="315952"/>
            </a:xfrm>
            <a:custGeom>
              <a:avLst/>
              <a:gdLst/>
              <a:ahLst/>
              <a:cxnLst/>
              <a:rect r="r" b="b" t="t" l="l"/>
              <a:pathLst>
                <a:path h="315952" w="1470951">
                  <a:moveTo>
                    <a:pt x="0" y="0"/>
                  </a:moveTo>
                  <a:lnTo>
                    <a:pt x="1470951" y="0"/>
                  </a:lnTo>
                  <a:lnTo>
                    <a:pt x="1470951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70951" cy="354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422176" y="4123632"/>
            <a:ext cx="4137001" cy="888605"/>
            <a:chOff x="0" y="0"/>
            <a:chExt cx="1470951" cy="3159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70951" cy="315952"/>
            </a:xfrm>
            <a:custGeom>
              <a:avLst/>
              <a:gdLst/>
              <a:ahLst/>
              <a:cxnLst/>
              <a:rect r="r" b="b" t="t" l="l"/>
              <a:pathLst>
                <a:path h="315952" w="1470951">
                  <a:moveTo>
                    <a:pt x="0" y="0"/>
                  </a:moveTo>
                  <a:lnTo>
                    <a:pt x="1470951" y="0"/>
                  </a:lnTo>
                  <a:lnTo>
                    <a:pt x="1470951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70951" cy="354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090216" y="2136562"/>
            <a:ext cx="1690442" cy="1876472"/>
          </a:xfrm>
          <a:custGeom>
            <a:avLst/>
            <a:gdLst/>
            <a:ahLst/>
            <a:cxnLst/>
            <a:rect r="r" b="b" t="t" l="l"/>
            <a:pathLst>
              <a:path h="1876472" w="1690442">
                <a:moveTo>
                  <a:pt x="0" y="0"/>
                </a:moveTo>
                <a:lnTo>
                  <a:pt x="1690442" y="0"/>
                </a:lnTo>
                <a:lnTo>
                  <a:pt x="1690442" y="1876472"/>
                </a:lnTo>
                <a:lnTo>
                  <a:pt x="0" y="18764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661016" y="1762305"/>
            <a:ext cx="1650879" cy="2203661"/>
          </a:xfrm>
          <a:custGeom>
            <a:avLst/>
            <a:gdLst/>
            <a:ahLst/>
            <a:cxnLst/>
            <a:rect r="r" b="b" t="t" l="l"/>
            <a:pathLst>
              <a:path h="2203661" w="1650879">
                <a:moveTo>
                  <a:pt x="0" y="0"/>
                </a:moveTo>
                <a:lnTo>
                  <a:pt x="1650878" y="0"/>
                </a:lnTo>
                <a:lnTo>
                  <a:pt x="1650878" y="2203661"/>
                </a:lnTo>
                <a:lnTo>
                  <a:pt x="0" y="22036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145429" y="1789894"/>
            <a:ext cx="2127817" cy="1932329"/>
          </a:xfrm>
          <a:custGeom>
            <a:avLst/>
            <a:gdLst/>
            <a:ahLst/>
            <a:cxnLst/>
            <a:rect r="r" b="b" t="t" l="l"/>
            <a:pathLst>
              <a:path h="1932329" w="2127817">
                <a:moveTo>
                  <a:pt x="0" y="0"/>
                </a:moveTo>
                <a:lnTo>
                  <a:pt x="2127818" y="0"/>
                </a:lnTo>
                <a:lnTo>
                  <a:pt x="2127818" y="1932329"/>
                </a:lnTo>
                <a:lnTo>
                  <a:pt x="0" y="19323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055146" y="4281110"/>
            <a:ext cx="3751055" cy="54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92"/>
              </a:lnSpc>
              <a:spcBef>
                <a:spcPct val="0"/>
              </a:spcBef>
            </a:pPr>
            <a:r>
              <a:rPr lang="en-US" sz="3765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RIESGO BAJO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62173" y="5398854"/>
            <a:ext cx="4137001" cy="215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5"/>
              </a:lnSpc>
              <a:spcBef>
                <a:spcPct val="0"/>
              </a:spcBef>
            </a:pPr>
            <a:r>
              <a:rPr lang="en-US" sz="18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Reserva orientativa: 5% sobre el costo estimado. Aplica cuando el alcance está bien definido, el equipo conoce la tecnología y los requisitos son estables. Triángulo: alcance fijo, tiempo y costo predecibles.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56046" y="4288072"/>
            <a:ext cx="3709257" cy="54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92"/>
              </a:lnSpc>
              <a:spcBef>
                <a:spcPct val="0"/>
              </a:spcBef>
            </a:pPr>
            <a:r>
              <a:rPr lang="en-US" sz="3765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RIESGO MEDIO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42174" y="5398854"/>
            <a:ext cx="4137001" cy="2513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5"/>
              </a:lnSpc>
              <a:spcBef>
                <a:spcPct val="0"/>
              </a:spcBef>
            </a:pPr>
            <a:r>
              <a:rPr lang="en-US" sz="18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Reserva orientativa: 10–15% sobre el costo estimado. Aplica cuando hay integraciones con terceros, tecnología parcialmente nueva o plazos ajustados. Acelerar el tiempo suele incrementar los recursos y el costo.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14442" y="4290498"/>
            <a:ext cx="3552468" cy="58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34"/>
              </a:lnSpc>
              <a:spcBef>
                <a:spcPct val="0"/>
              </a:spcBef>
            </a:pPr>
            <a:r>
              <a:rPr lang="en-US" sz="4065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RIESGO ALTO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22176" y="5446479"/>
            <a:ext cx="4137001" cy="2875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5"/>
              </a:lnSpc>
              <a:spcBef>
                <a:spcPct val="0"/>
              </a:spcBef>
            </a:pPr>
            <a:r>
              <a:rPr lang="en-US" sz="18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Reserva orientativa: 20–30% sobre el costo estimado. Aplica cuando el alcance es difuso, la tecnología es desconocida o el cliente cambia requerimientos con frecuencia. El triángulo se desequilibra: reducir tiempo o ampliar alcance eleva el costo.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548" y="-171935"/>
            <a:ext cx="8305136" cy="10665257"/>
            <a:chOff x="0" y="0"/>
            <a:chExt cx="11073515" cy="14220342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82" t="0" r="82" b="0"/>
            <a:stretch>
              <a:fillRect/>
            </a:stretch>
          </p:blipFill>
          <p:spPr>
            <a:xfrm flipH="false" flipV="false">
              <a:off x="0" y="0"/>
              <a:ext cx="11073515" cy="14220342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2466100"/>
            <a:ext cx="10370161" cy="337406"/>
            <a:chOff x="0" y="0"/>
            <a:chExt cx="2731236" cy="888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31236" cy="88864"/>
            </a:xfrm>
            <a:custGeom>
              <a:avLst/>
              <a:gdLst/>
              <a:ahLst/>
              <a:cxnLst/>
              <a:rect r="r" b="b" t="t" l="l"/>
              <a:pathLst>
                <a:path h="88864" w="2731236">
                  <a:moveTo>
                    <a:pt x="0" y="0"/>
                  </a:moveTo>
                  <a:lnTo>
                    <a:pt x="2731236" y="0"/>
                  </a:lnTo>
                  <a:lnTo>
                    <a:pt x="2731236" y="88864"/>
                  </a:lnTo>
                  <a:lnTo>
                    <a:pt x="0" y="88864"/>
                  </a:lnTo>
                  <a:close/>
                </a:path>
              </a:pathLst>
            </a:custGeom>
            <a:solidFill>
              <a:srgbClr val="094C6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31236" cy="126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0" y="3685986"/>
            <a:ext cx="7611374" cy="81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12"/>
              </a:lnSpc>
              <a:spcBef>
                <a:spcPct val="0"/>
              </a:spcBef>
            </a:pPr>
            <a:r>
              <a:rPr lang="en-US" sz="5537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CAMBIOS DE ALCANCE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5188368"/>
            <a:ext cx="7362454" cy="477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9"/>
              </a:lnSpc>
              <a:spcBef>
                <a:spcPct val="0"/>
              </a:spcBef>
            </a:pPr>
            <a:r>
              <a:rPr lang="en-US" sz="20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"Ya que estás ahí…" — La frase más costosa en TI.</a:t>
            </a:r>
          </a:p>
          <a:p>
            <a:pPr algn="l" marL="0" indent="0" lvl="0">
              <a:lnSpc>
                <a:spcPts val="3189"/>
              </a:lnSpc>
              <a:spcBef>
                <a:spcPct val="0"/>
              </a:spcBef>
            </a:pPr>
            <a:r>
              <a:rPr lang="en-US" sz="20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Flujo de control de cambios:</a:t>
            </a:r>
          </a:p>
          <a:p>
            <a:pPr algn="l" marL="0" indent="0" lvl="0">
              <a:lnSpc>
                <a:spcPts val="318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89"/>
              </a:lnSpc>
              <a:spcBef>
                <a:spcPct val="0"/>
              </a:spcBef>
            </a:pPr>
            <a:r>
              <a:rPr lang="en-US" sz="20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Solicitud → Análisis de impacto → Estimación de horas → Costo adicional → Nueva fecha → Autorización del cliente</a:t>
            </a:r>
          </a:p>
          <a:p>
            <a:pPr algn="l" marL="0" indent="0" lvl="0">
              <a:lnSpc>
                <a:spcPts val="318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89"/>
              </a:lnSpc>
              <a:spcBef>
                <a:spcPct val="0"/>
              </a:spcBef>
            </a:pPr>
            <a:r>
              <a:rPr lang="en-US" sz="20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Ejemplo CR-004: Módulo de facturación</a:t>
            </a:r>
          </a:p>
          <a:p>
            <a:pPr algn="l" marL="0" indent="0" lvl="0">
              <a:lnSpc>
                <a:spcPts val="3189"/>
              </a:lnSpc>
              <a:spcBef>
                <a:spcPct val="0"/>
              </a:spcBef>
            </a:pPr>
            <a:r>
              <a:rPr lang="en-US" sz="20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Horas adicionales: +32 h</a:t>
            </a:r>
          </a:p>
          <a:p>
            <a:pPr algn="l" marL="0" indent="0" lvl="0">
              <a:lnSpc>
                <a:spcPts val="3189"/>
              </a:lnSpc>
              <a:spcBef>
                <a:spcPct val="0"/>
              </a:spcBef>
            </a:pPr>
            <a:r>
              <a:rPr lang="en-US" sz="20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Costo adicional: +$14,000 MXN</a:t>
            </a:r>
          </a:p>
          <a:p>
            <a:pPr algn="l" marL="0" indent="0" lvl="0">
              <a:lnSpc>
                <a:spcPts val="3189"/>
              </a:lnSpc>
              <a:spcBef>
                <a:spcPct val="0"/>
              </a:spcBef>
            </a:pPr>
            <a:r>
              <a:rPr lang="en-US" sz="20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Impacto en entrega: +5 días</a:t>
            </a:r>
          </a:p>
          <a:p>
            <a:pPr algn="l" marL="0" indent="0" lvl="0">
              <a:lnSpc>
                <a:spcPts val="3189"/>
              </a:lnSpc>
              <a:spcBef>
                <a:spcPct val="0"/>
              </a:spcBef>
            </a:pPr>
            <a:r>
              <a:rPr lang="en-US" sz="2098" strike="noStrike" u="non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Todo cambio de alcance debe documentarse y autorizarse antes de ejecutarse.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DAHS9XTbc1Q</dc:identifier>
  <dcterms:modified xsi:type="dcterms:W3CDTF">2011-08-01T06:04:30Z</dcterms:modified>
  <cp:revision>1</cp:revision>
  <dc:title>Cotización de TI: Alcance y Precio</dc:title>
</cp:coreProperties>
</file>